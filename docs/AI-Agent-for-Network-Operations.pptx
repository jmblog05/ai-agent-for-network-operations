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78" r:id="rId3"/>
    <p:sldId id="257" r:id="rId4"/>
    <p:sldId id="279" r:id="rId5"/>
    <p:sldId id="281" r:id="rId6"/>
    <p:sldId id="282" r:id="rId7"/>
    <p:sldId id="283" r:id="rId8"/>
    <p:sldId id="295" r:id="rId9"/>
    <p:sldId id="284" r:id="rId10"/>
    <p:sldId id="285" r:id="rId11"/>
    <p:sldId id="288" r:id="rId12"/>
    <p:sldId id="289" r:id="rId13"/>
    <p:sldId id="290" r:id="rId14"/>
    <p:sldId id="291" r:id="rId15"/>
    <p:sldId id="292" r:id="rId16"/>
    <p:sldId id="294" r:id="rId17"/>
    <p:sldId id="293" r:id="rId18"/>
    <p:sldId id="29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E2DD2-F8FA-40F5-A53F-F5CA65DFC24D}" type="datetimeFigureOut">
              <a:rPr kumimoji="1" lang="ja-JP" altLang="en-US" smtClean="0"/>
              <a:t>2026/10/11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23465A-7708-42DA-B94F-B24A0EFC3207}" type="slidenum">
              <a:rPr kumimoji="1" lang="ja-JP" altLang="en-US" smtClean="0"/>
              <a:t>‹#›</a:t>
            </a:fld>
            <a:endParaRPr kumimoji="1" lang="ja-JP" altLang="en-US"/>
          </a:p>
        </p:txBody>
      </p:sp>
    </p:spTree>
    <p:extLst>
      <p:ext uri="{BB962C8B-B14F-4D97-AF65-F5344CB8AC3E}">
        <p14:creationId xmlns:p14="http://schemas.microsoft.com/office/powerpoint/2010/main" val="15750005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ja-JP" altLang="en-US"/>
              <a:t>マスター タイトルの書式設定</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1678583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623061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20838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3910710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3208368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2455355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2616542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ja-JP" altLang="en-US"/>
              <a:t>マスター タイトルの書式設定</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3671988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ja-JP" altLang="en-US"/>
              <a:t>マスター タイトルの書式設定</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3885810" y="6041362"/>
            <a:ext cx="976879" cy="365125"/>
          </a:xfrm>
        </p:spPr>
        <p:txBody>
          <a:bodyPr/>
          <a:lstStyle/>
          <a:p>
            <a:fld id="{A26AF392-0E75-4B19-B62E-35B320578452}" type="datetimeFigureOut">
              <a:rPr kumimoji="1" lang="ja-JP" altLang="en-US" smtClean="0"/>
              <a:t>2026/10/11</a:t>
            </a:fld>
            <a:endParaRPr kumimoji="1" lang="ja-JP" altLang="en-US"/>
          </a:p>
        </p:txBody>
      </p:sp>
      <p:sp>
        <p:nvSpPr>
          <p:cNvPr id="6" name="Footer Placeholder 5"/>
          <p:cNvSpPr>
            <a:spLocks noGrp="1"/>
          </p:cNvSpPr>
          <p:nvPr>
            <p:ph type="ftr" sz="quarter" idx="11"/>
          </p:nvPr>
        </p:nvSpPr>
        <p:spPr>
          <a:xfrm>
            <a:off x="590396" y="6041362"/>
            <a:ext cx="3295413" cy="365125"/>
          </a:xfrm>
        </p:spPr>
        <p:txBody>
          <a:bodyPr/>
          <a:lstStyle/>
          <a:p>
            <a:endParaRPr kumimoji="1" lang="ja-JP" altLang="en-US"/>
          </a:p>
        </p:txBody>
      </p:sp>
      <p:sp>
        <p:nvSpPr>
          <p:cNvPr id="7" name="Slide Number Placeholder 6"/>
          <p:cNvSpPr>
            <a:spLocks noGrp="1"/>
          </p:cNvSpPr>
          <p:nvPr>
            <p:ph type="sldNum" sz="quarter" idx="12"/>
          </p:nvPr>
        </p:nvSpPr>
        <p:spPr>
          <a:xfrm>
            <a:off x="4862689" y="5915888"/>
            <a:ext cx="1062155" cy="490599"/>
          </a:xfrm>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1421405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ja-JP" altLang="en-US"/>
              <a:t>マスター タイトルの書式設定</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2050236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2764302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ja-JP" altLang="en-US"/>
              <a:t>マスター タイトルの書式設定</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ja-JP" altLang="en-US"/>
              <a:t>マスター テキストの書式設定</a:t>
            </a:r>
          </a:p>
        </p:txBody>
      </p:sp>
      <p:sp>
        <p:nvSpPr>
          <p:cNvPr id="2" name="Date Placeholder 1"/>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3962110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2054146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26AF392-0E75-4B19-B62E-35B320578452}" type="datetimeFigureOut">
              <a:rPr kumimoji="1" lang="ja-JP" altLang="en-US" smtClean="0"/>
              <a:t>2026/10/11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1301295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kumimoji="1" lang="ja-JP" alt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A26AF392-0E75-4B19-B62E-35B320578452}" type="datetimeFigureOut">
              <a:rPr kumimoji="1" lang="ja-JP" altLang="en-US" smtClean="0"/>
              <a:t>2026/10/11</a:t>
            </a:fld>
            <a:endParaRPr kumimoji="1" lang="ja-JP" alt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0BF11A4D-922A-4A9B-9EDC-17BDE9168E67}" type="slidenum">
              <a:rPr kumimoji="1" lang="ja-JP" altLang="en-US" smtClean="0"/>
              <a:t>‹#›</a:t>
            </a:fld>
            <a:endParaRPr kumimoji="1" lang="ja-JP" altLang="en-US"/>
          </a:p>
        </p:txBody>
      </p:sp>
    </p:spTree>
    <p:extLst>
      <p:ext uri="{BB962C8B-B14F-4D97-AF65-F5344CB8AC3E}">
        <p14:creationId xmlns:p14="http://schemas.microsoft.com/office/powerpoint/2010/main" val="34807889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kumimoji="1" sz="4000" b="1" kern="1200">
          <a:solidFill>
            <a:srgbClr val="FEFEFE"/>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kumimoji="1"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kumimoji="1"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kumimoji="1"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EC03472-AA03-281A-AF84-3B12F6411AA9}"/>
              </a:ext>
            </a:extLst>
          </p:cNvPr>
          <p:cNvSpPr txBox="1"/>
          <p:nvPr/>
        </p:nvSpPr>
        <p:spPr>
          <a:xfrm>
            <a:off x="155274" y="2277373"/>
            <a:ext cx="11950462" cy="1415772"/>
          </a:xfrm>
          <a:prstGeom prst="rect">
            <a:avLst/>
          </a:prstGeom>
          <a:noFill/>
        </p:spPr>
        <p:txBody>
          <a:bodyPr wrap="square" rtlCol="0">
            <a:spAutoFit/>
          </a:bodyPr>
          <a:lstStyle/>
          <a:p>
            <a:r>
              <a:rPr lang="ja-JP" altLang="ja-JP" sz="5400" b="1" dirty="0"/>
              <a:t>AI Agent for Network Operations</a:t>
            </a:r>
          </a:p>
          <a:p>
            <a:pPr algn="ctr"/>
            <a:r>
              <a:rPr lang="en-US" altLang="ja-JP" sz="3200" b="1" dirty="0"/>
              <a:t>“AI-Agent-for-Network-Operations v1”</a:t>
            </a:r>
            <a:endParaRPr kumimoji="1" lang="ja-JP" altLang="en-US" sz="3200" b="1" dirty="0"/>
          </a:p>
        </p:txBody>
      </p:sp>
    </p:spTree>
    <p:extLst>
      <p:ext uri="{BB962C8B-B14F-4D97-AF65-F5344CB8AC3E}">
        <p14:creationId xmlns:p14="http://schemas.microsoft.com/office/powerpoint/2010/main" val="3529566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id="{7AC4B07C-63D7-905D-DFA3-2070791FC250}"/>
              </a:ext>
            </a:extLst>
          </p:cNvPr>
          <p:cNvSpPr>
            <a:spLocks noGrp="1"/>
          </p:cNvSpPr>
          <p:nvPr>
            <p:ph type="title"/>
          </p:nvPr>
        </p:nvSpPr>
        <p:spPr>
          <a:xfrm>
            <a:off x="86263" y="447188"/>
            <a:ext cx="12013721" cy="970450"/>
          </a:xfrm>
        </p:spPr>
        <p:txBody>
          <a:bodyPr/>
          <a:lstStyle/>
          <a:p>
            <a:r>
              <a:rPr lang="en-US" altLang="ja-JP" dirty="0"/>
              <a:t>“AI-Agent-for-Network-Operations” overview</a:t>
            </a:r>
            <a:endParaRPr kumimoji="1" lang="ja-JP" altLang="en-US" dirty="0"/>
          </a:p>
        </p:txBody>
      </p:sp>
      <p:sp>
        <p:nvSpPr>
          <p:cNvPr id="8" name="コンテンツ プレースホルダー 2">
            <a:extLst>
              <a:ext uri="{FF2B5EF4-FFF2-40B4-BE49-F238E27FC236}">
                <a16:creationId xmlns:a16="http://schemas.microsoft.com/office/drawing/2014/main" id="{89F5CA08-5863-8AC6-8785-F9159EF3A1B6}"/>
              </a:ext>
            </a:extLst>
          </p:cNvPr>
          <p:cNvSpPr>
            <a:spLocks noGrp="1"/>
          </p:cNvSpPr>
          <p:nvPr>
            <p:ph idx="1"/>
          </p:nvPr>
        </p:nvSpPr>
        <p:spPr>
          <a:xfrm>
            <a:off x="388273" y="2173857"/>
            <a:ext cx="11389659" cy="4597877"/>
          </a:xfrm>
        </p:spPr>
        <p:txBody>
          <a:bodyPr anchor="t" anchorCtr="0">
            <a:noAutofit/>
          </a:bodyPr>
          <a:lstStyle/>
          <a:p>
            <a:r>
              <a:rPr lang="en-US" altLang="ja-JP" sz="1900" dirty="0"/>
              <a:t>Overview</a:t>
            </a:r>
          </a:p>
          <a:p>
            <a:pPr marL="0" indent="0">
              <a:buNone/>
            </a:pPr>
            <a:r>
              <a:rPr lang="en-US" altLang="ja-JP" sz="1900" dirty="0"/>
              <a:t>“AI-Agent-for-Network-Operations v1” is an AI agent tool that accesses network devices (Cisco devices) based on alerts detected by the Zabbix monitoring system. It investigates the devices by executing Cisco CLI commands and uses an LLM to provide diagnostic results based on both the monitoring data and the command output.</a:t>
            </a:r>
            <a:br>
              <a:rPr lang="en-US" altLang="ja-JP" sz="1900" dirty="0"/>
            </a:br>
            <a:endParaRPr lang="en-US" altLang="ja-JP" dirty="0"/>
          </a:p>
          <a:p>
            <a:r>
              <a:rPr lang="en-US" altLang="ja-JP" dirty="0"/>
              <a:t>System Architecture</a:t>
            </a:r>
          </a:p>
          <a:p>
            <a:pPr marL="685800" lvl="1">
              <a:buFont typeface="Wingdings" panose="05000000000000000000" pitchFamily="2" charset="2"/>
              <a:buChar char="l"/>
            </a:pPr>
            <a:r>
              <a:rPr lang="en-US" altLang="ja-JP" dirty="0"/>
              <a:t>LLM: Gemini API (gemini-2.5-flash)</a:t>
            </a:r>
          </a:p>
          <a:p>
            <a:pPr marL="685800" lvl="1">
              <a:buFont typeface="Wingdings" panose="05000000000000000000" pitchFamily="2" charset="2"/>
              <a:buChar char="l"/>
            </a:pPr>
            <a:r>
              <a:rPr lang="en-US" altLang="ja-JP" dirty="0"/>
              <a:t>AI Agent Framework: </a:t>
            </a:r>
            <a:r>
              <a:rPr lang="en-US" altLang="ja-JP" dirty="0" err="1"/>
              <a:t>LangGraph</a:t>
            </a:r>
            <a:endParaRPr lang="en-US" altLang="ja-JP" dirty="0"/>
          </a:p>
          <a:p>
            <a:pPr marL="685800" lvl="1">
              <a:buFont typeface="Wingdings" panose="05000000000000000000" pitchFamily="2" charset="2"/>
              <a:buChar char="l"/>
            </a:pPr>
            <a:r>
              <a:rPr lang="en-US" altLang="ja-JP" dirty="0"/>
              <a:t>Tool 1 “</a:t>
            </a:r>
            <a:r>
              <a:rPr lang="en-US" altLang="ja-JP" dirty="0" err="1"/>
              <a:t>get_zabbix_problems</a:t>
            </a:r>
            <a:r>
              <a:rPr lang="en-US" altLang="ja-JP" dirty="0"/>
              <a:t>” : Retrieves problem information and the IP addresses of the devices associated with those problems using the Zabbix API.</a:t>
            </a:r>
          </a:p>
          <a:p>
            <a:pPr marL="685800" lvl="1">
              <a:buFont typeface="Wingdings" panose="05000000000000000000" pitchFamily="2" charset="2"/>
              <a:buChar char="l"/>
            </a:pPr>
            <a:r>
              <a:rPr lang="en-US" altLang="ja-JP" dirty="0"/>
              <a:t>Tool 2 “</a:t>
            </a:r>
            <a:r>
              <a:rPr lang="en-US" altLang="ja-JP" dirty="0" err="1"/>
              <a:t>get_cisco_cli</a:t>
            </a:r>
            <a:r>
              <a:rPr lang="en-US" altLang="ja-JP" dirty="0"/>
              <a:t>” : Uses the IP addresses obtained by Tool 1 to connect to Cisco devices via SSH using </a:t>
            </a:r>
            <a:r>
              <a:rPr lang="en-US" altLang="ja-JP" dirty="0" err="1"/>
              <a:t>Netmiko</a:t>
            </a:r>
            <a:r>
              <a:rPr lang="en-US" altLang="ja-JP" dirty="0"/>
              <a:t>, execute CLI commands, and retrieve the command output.</a:t>
            </a:r>
            <a:endParaRPr lang="ja-JP" altLang="en-US" dirty="0"/>
          </a:p>
        </p:txBody>
      </p:sp>
    </p:spTree>
    <p:extLst>
      <p:ext uri="{BB962C8B-B14F-4D97-AF65-F5344CB8AC3E}">
        <p14:creationId xmlns:p14="http://schemas.microsoft.com/office/powerpoint/2010/main" val="3553210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096491B-7659-4989-891D-A3ADC473D9BF}"/>
              </a:ext>
            </a:extLst>
          </p:cNvPr>
          <p:cNvPicPr>
            <a:picLocks noChangeAspect="1"/>
          </p:cNvPicPr>
          <p:nvPr/>
        </p:nvPicPr>
        <p:blipFill>
          <a:blip r:embed="rId2"/>
          <a:stretch>
            <a:fillRect/>
          </a:stretch>
        </p:blipFill>
        <p:spPr>
          <a:xfrm>
            <a:off x="943155" y="2220374"/>
            <a:ext cx="3617151" cy="4494684"/>
          </a:xfrm>
          <a:prstGeom prst="rect">
            <a:avLst/>
          </a:prstGeom>
        </p:spPr>
      </p:pic>
      <p:sp>
        <p:nvSpPr>
          <p:cNvPr id="7" name="タイトル 1">
            <a:extLst>
              <a:ext uri="{FF2B5EF4-FFF2-40B4-BE49-F238E27FC236}">
                <a16:creationId xmlns:a16="http://schemas.microsoft.com/office/drawing/2014/main" id="{7F3844DC-2913-F976-45FC-3DD626E6FC95}"/>
              </a:ext>
            </a:extLst>
          </p:cNvPr>
          <p:cNvSpPr>
            <a:spLocks noGrp="1"/>
          </p:cNvSpPr>
          <p:nvPr>
            <p:ph type="title"/>
          </p:nvPr>
        </p:nvSpPr>
        <p:spPr>
          <a:xfrm>
            <a:off x="86263" y="447188"/>
            <a:ext cx="12013721" cy="970450"/>
          </a:xfrm>
        </p:spPr>
        <p:txBody>
          <a:bodyPr/>
          <a:lstStyle/>
          <a:p>
            <a:r>
              <a:rPr lang="en-US" altLang="ja-JP" dirty="0"/>
              <a:t>“AI-Agent-for-Network-Operations” flow</a:t>
            </a:r>
            <a:endParaRPr kumimoji="1" lang="ja-JP" altLang="en-US" dirty="0"/>
          </a:p>
        </p:txBody>
      </p:sp>
      <p:sp>
        <p:nvSpPr>
          <p:cNvPr id="31" name="正方形/長方形 30">
            <a:extLst>
              <a:ext uri="{FF2B5EF4-FFF2-40B4-BE49-F238E27FC236}">
                <a16:creationId xmlns:a16="http://schemas.microsoft.com/office/drawing/2014/main" id="{8850FF95-C020-CC06-1DE9-788A7FE4E8CC}"/>
              </a:ext>
            </a:extLst>
          </p:cNvPr>
          <p:cNvSpPr/>
          <p:nvPr/>
        </p:nvSpPr>
        <p:spPr>
          <a:xfrm>
            <a:off x="5466272" y="2300887"/>
            <a:ext cx="3180272" cy="408317"/>
          </a:xfrm>
          <a:prstGeom prst="rect">
            <a:avLst/>
          </a:prstGeom>
          <a:solidFill>
            <a:schemeClr val="tx1"/>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rPr>
              <a:t>Receive the user’s inquiry</a:t>
            </a:r>
            <a:endParaRPr kumimoji="1" lang="ja-JP" altLang="en-US" dirty="0">
              <a:solidFill>
                <a:schemeClr val="bg1"/>
              </a:solidFill>
            </a:endParaRPr>
          </a:p>
        </p:txBody>
      </p:sp>
      <p:cxnSp>
        <p:nvCxnSpPr>
          <p:cNvPr id="33" name="直線矢印コネクタ 32">
            <a:extLst>
              <a:ext uri="{FF2B5EF4-FFF2-40B4-BE49-F238E27FC236}">
                <a16:creationId xmlns:a16="http://schemas.microsoft.com/office/drawing/2014/main" id="{0D6E4BB3-9FAA-14DA-D3F9-8C6000BCCD87}"/>
              </a:ext>
            </a:extLst>
          </p:cNvPr>
          <p:cNvCxnSpPr>
            <a:cxnSpLocks/>
            <a:stCxn id="31" idx="1"/>
          </p:cNvCxnSpPr>
          <p:nvPr/>
        </p:nvCxnSpPr>
        <p:spPr>
          <a:xfrm flipH="1">
            <a:off x="4240651" y="2505046"/>
            <a:ext cx="1225621" cy="60460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F6D49A58-9B7D-0461-BB97-4827C9F7F2DD}"/>
              </a:ext>
            </a:extLst>
          </p:cNvPr>
          <p:cNvCxnSpPr>
            <a:cxnSpLocks/>
            <a:stCxn id="38" idx="1"/>
          </p:cNvCxnSpPr>
          <p:nvPr/>
        </p:nvCxnSpPr>
        <p:spPr>
          <a:xfrm flipH="1">
            <a:off x="4240651" y="3246408"/>
            <a:ext cx="1225621" cy="427007"/>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ED20AD0-268F-8700-0E1B-51114D6BC74B}"/>
              </a:ext>
            </a:extLst>
          </p:cNvPr>
          <p:cNvSpPr/>
          <p:nvPr/>
        </p:nvSpPr>
        <p:spPr>
          <a:xfrm>
            <a:off x="5466272" y="3042249"/>
            <a:ext cx="4827917" cy="408317"/>
          </a:xfrm>
          <a:prstGeom prst="rect">
            <a:avLst/>
          </a:prstGeom>
          <a:solidFill>
            <a:schemeClr val="tx1"/>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1"/>
              </a:buClr>
            </a:pPr>
            <a:r>
              <a:rPr lang="en-US" altLang="ja-JP" dirty="0">
                <a:solidFill>
                  <a:sysClr val="windowText" lastClr="000000"/>
                </a:solidFill>
              </a:rPr>
              <a:t>Execute the “</a:t>
            </a:r>
            <a:r>
              <a:rPr lang="en-US" altLang="ja-JP" dirty="0" err="1">
                <a:solidFill>
                  <a:sysClr val="windowText" lastClr="000000"/>
                </a:solidFill>
              </a:rPr>
              <a:t>get_zabbix_problems</a:t>
            </a:r>
            <a:r>
              <a:rPr lang="en-US" altLang="ja-JP" dirty="0">
                <a:solidFill>
                  <a:sysClr val="windowText" lastClr="000000"/>
                </a:solidFill>
              </a:rPr>
              <a:t>” tool</a:t>
            </a:r>
            <a:endParaRPr kumimoji="1" lang="ja-JP" altLang="en-US" dirty="0">
              <a:solidFill>
                <a:sysClr val="windowText" lastClr="000000"/>
              </a:solidFill>
            </a:endParaRPr>
          </a:p>
        </p:txBody>
      </p:sp>
      <p:cxnSp>
        <p:nvCxnSpPr>
          <p:cNvPr id="39" name="直線矢印コネクタ 38">
            <a:extLst>
              <a:ext uri="{FF2B5EF4-FFF2-40B4-BE49-F238E27FC236}">
                <a16:creationId xmlns:a16="http://schemas.microsoft.com/office/drawing/2014/main" id="{D3CFF89C-7571-376A-B1C9-F6453D358E6C}"/>
              </a:ext>
            </a:extLst>
          </p:cNvPr>
          <p:cNvCxnSpPr>
            <a:cxnSpLocks/>
            <a:stCxn id="41" idx="1"/>
          </p:cNvCxnSpPr>
          <p:nvPr/>
        </p:nvCxnSpPr>
        <p:spPr>
          <a:xfrm flipH="1">
            <a:off x="4255698" y="4044352"/>
            <a:ext cx="1210574" cy="254478"/>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1" name="正方形/長方形 40">
            <a:extLst>
              <a:ext uri="{FF2B5EF4-FFF2-40B4-BE49-F238E27FC236}">
                <a16:creationId xmlns:a16="http://schemas.microsoft.com/office/drawing/2014/main" id="{4CF08ED2-6E4E-C5B6-5B1D-A1C0E3BF9BF6}"/>
              </a:ext>
            </a:extLst>
          </p:cNvPr>
          <p:cNvSpPr/>
          <p:nvPr/>
        </p:nvSpPr>
        <p:spPr>
          <a:xfrm>
            <a:off x="5466272" y="3840193"/>
            <a:ext cx="3798498" cy="408317"/>
          </a:xfrm>
          <a:prstGeom prst="rect">
            <a:avLst/>
          </a:prstGeom>
          <a:solidFill>
            <a:schemeClr val="tx1"/>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1"/>
              </a:buClr>
            </a:pPr>
            <a:r>
              <a:rPr lang="en-US" altLang="ja-JP" dirty="0">
                <a:solidFill>
                  <a:schemeClr val="bg1"/>
                </a:solidFill>
              </a:rPr>
              <a:t>Execute the “</a:t>
            </a:r>
            <a:r>
              <a:rPr lang="en-US" altLang="ja-JP" dirty="0" err="1">
                <a:solidFill>
                  <a:schemeClr val="bg1"/>
                </a:solidFill>
              </a:rPr>
              <a:t>get_cisco_cli</a:t>
            </a:r>
            <a:r>
              <a:rPr lang="en-US" altLang="ja-JP" dirty="0">
                <a:solidFill>
                  <a:schemeClr val="bg1"/>
                </a:solidFill>
              </a:rPr>
              <a:t>” tool</a:t>
            </a:r>
            <a:endParaRPr kumimoji="1" lang="ja-JP" altLang="en-US" dirty="0">
              <a:solidFill>
                <a:sysClr val="windowText" lastClr="000000"/>
              </a:solidFill>
            </a:endParaRPr>
          </a:p>
        </p:txBody>
      </p:sp>
      <p:cxnSp>
        <p:nvCxnSpPr>
          <p:cNvPr id="42" name="直線矢印コネクタ 41">
            <a:extLst>
              <a:ext uri="{FF2B5EF4-FFF2-40B4-BE49-F238E27FC236}">
                <a16:creationId xmlns:a16="http://schemas.microsoft.com/office/drawing/2014/main" id="{25401FB0-9FD1-784B-4C73-A2411B604430}"/>
              </a:ext>
            </a:extLst>
          </p:cNvPr>
          <p:cNvCxnSpPr>
            <a:cxnSpLocks/>
            <a:stCxn id="44" idx="1"/>
          </p:cNvCxnSpPr>
          <p:nvPr/>
        </p:nvCxnSpPr>
        <p:spPr>
          <a:xfrm flipH="1">
            <a:off x="4534619" y="4931434"/>
            <a:ext cx="931653" cy="4570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4" name="正方形/長方形 43">
            <a:extLst>
              <a:ext uri="{FF2B5EF4-FFF2-40B4-BE49-F238E27FC236}">
                <a16:creationId xmlns:a16="http://schemas.microsoft.com/office/drawing/2014/main" id="{37C97A77-61C1-3870-BDB2-93402E51A945}"/>
              </a:ext>
            </a:extLst>
          </p:cNvPr>
          <p:cNvSpPr/>
          <p:nvPr/>
        </p:nvSpPr>
        <p:spPr>
          <a:xfrm>
            <a:off x="5466272" y="4502989"/>
            <a:ext cx="6179388" cy="856890"/>
          </a:xfrm>
          <a:prstGeom prst="rect">
            <a:avLst/>
          </a:prstGeom>
          <a:solidFill>
            <a:schemeClr val="tx1"/>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1"/>
              </a:buClr>
            </a:pPr>
            <a:r>
              <a:rPr kumimoji="1" lang="en-US" altLang="ja-JP" dirty="0">
                <a:solidFill>
                  <a:sysClr val="windowText" lastClr="000000"/>
                </a:solidFill>
              </a:rPr>
              <a:t>Based on the inquiry and the results from both tools, the AI determines whether additional investigation is needed (limited to one additional investigation)</a:t>
            </a:r>
            <a:endParaRPr kumimoji="1" lang="ja-JP" altLang="en-US" dirty="0">
              <a:solidFill>
                <a:sysClr val="windowText" lastClr="000000"/>
              </a:solidFill>
            </a:endParaRPr>
          </a:p>
        </p:txBody>
      </p:sp>
      <p:cxnSp>
        <p:nvCxnSpPr>
          <p:cNvPr id="45" name="直線矢印コネクタ 44">
            <a:extLst>
              <a:ext uri="{FF2B5EF4-FFF2-40B4-BE49-F238E27FC236}">
                <a16:creationId xmlns:a16="http://schemas.microsoft.com/office/drawing/2014/main" id="{72B224DB-B305-0252-BAA3-6BA68E78494D}"/>
              </a:ext>
            </a:extLst>
          </p:cNvPr>
          <p:cNvCxnSpPr>
            <a:cxnSpLocks/>
            <a:stCxn id="46" idx="1"/>
          </p:cNvCxnSpPr>
          <p:nvPr/>
        </p:nvCxnSpPr>
        <p:spPr>
          <a:xfrm flipH="1" flipV="1">
            <a:off x="3209026" y="5534950"/>
            <a:ext cx="2257246" cy="34372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62F25440-09C9-128E-D800-422E7978513B}"/>
              </a:ext>
            </a:extLst>
          </p:cNvPr>
          <p:cNvSpPr/>
          <p:nvPr/>
        </p:nvSpPr>
        <p:spPr>
          <a:xfrm>
            <a:off x="5466272" y="5575077"/>
            <a:ext cx="6179388" cy="607187"/>
          </a:xfrm>
          <a:prstGeom prst="rect">
            <a:avLst/>
          </a:prstGeom>
          <a:solidFill>
            <a:schemeClr val="tx1"/>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1"/>
              </a:buClr>
            </a:pPr>
            <a:r>
              <a:rPr kumimoji="1" lang="en-US" altLang="ja-JP" dirty="0">
                <a:solidFill>
                  <a:sysClr val="windowText" lastClr="000000"/>
                </a:solidFill>
              </a:rPr>
              <a:t>Based on the inquiry and the results from both tools, the AI provides the diagnostic results</a:t>
            </a:r>
            <a:endParaRPr kumimoji="1" lang="ja-JP" altLang="en-US" dirty="0">
              <a:solidFill>
                <a:sysClr val="windowText" lastClr="000000"/>
              </a:solidFill>
            </a:endParaRPr>
          </a:p>
        </p:txBody>
      </p:sp>
    </p:spTree>
    <p:extLst>
      <p:ext uri="{BB962C8B-B14F-4D97-AF65-F5344CB8AC3E}">
        <p14:creationId xmlns:p14="http://schemas.microsoft.com/office/powerpoint/2010/main" val="3925580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DEB4C-F5B5-D1E2-9AC6-A37AD2D3860D}"/>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2803E19-FC5B-6BBC-5E9E-3303E583544C}"/>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kumimoji="1" lang="ja-JP" altLang="en-US" dirty="0"/>
          </a:p>
        </p:txBody>
      </p:sp>
      <p:sp>
        <p:nvSpPr>
          <p:cNvPr id="2" name="コンテンツ プレースホルダー 2">
            <a:extLst>
              <a:ext uri="{FF2B5EF4-FFF2-40B4-BE49-F238E27FC236}">
                <a16:creationId xmlns:a16="http://schemas.microsoft.com/office/drawing/2014/main" id="{13E8EA9D-62DC-7DC3-6EEB-DE64F7CC8855}"/>
              </a:ext>
            </a:extLst>
          </p:cNvPr>
          <p:cNvSpPr>
            <a:spLocks noGrp="1"/>
          </p:cNvSpPr>
          <p:nvPr>
            <p:ph idx="1"/>
          </p:nvPr>
        </p:nvSpPr>
        <p:spPr>
          <a:xfrm>
            <a:off x="388273" y="2173857"/>
            <a:ext cx="4632301" cy="3042249"/>
          </a:xfrm>
        </p:spPr>
        <p:txBody>
          <a:bodyPr anchor="t" anchorCtr="0">
            <a:noAutofit/>
          </a:bodyPr>
          <a:lstStyle/>
          <a:p>
            <a:r>
              <a:rPr lang="en-US" altLang="ja-JP" dirty="0"/>
              <a:t>Environment</a:t>
            </a:r>
          </a:p>
          <a:p>
            <a:pPr marL="685800" lvl="1">
              <a:buFont typeface="Wingdings" panose="05000000000000000000" pitchFamily="2" charset="2"/>
              <a:buChar char="l"/>
            </a:pPr>
            <a:r>
              <a:rPr lang="en-US" altLang="ja-JP" dirty="0"/>
              <a:t>Gemini API</a:t>
            </a:r>
          </a:p>
          <a:p>
            <a:pPr marL="685800" lvl="1">
              <a:buFont typeface="Wingdings" panose="05000000000000000000" pitchFamily="2" charset="2"/>
              <a:buChar char="l"/>
            </a:pPr>
            <a:r>
              <a:rPr lang="en-US" altLang="ja-JP" dirty="0"/>
              <a:t>Windows11</a:t>
            </a:r>
          </a:p>
          <a:p>
            <a:pPr marL="685800" lvl="1">
              <a:buFont typeface="Wingdings" panose="05000000000000000000" pitchFamily="2" charset="2"/>
              <a:buChar char="l"/>
            </a:pPr>
            <a:r>
              <a:rPr lang="en-US" altLang="ja-JP" dirty="0"/>
              <a:t>Python 3.11</a:t>
            </a:r>
          </a:p>
          <a:p>
            <a:pPr marL="685800" lvl="1">
              <a:buFont typeface="Wingdings" panose="05000000000000000000" pitchFamily="2" charset="2"/>
              <a:buChar char="l"/>
            </a:pPr>
            <a:r>
              <a:rPr lang="en-US" altLang="ja-JP" dirty="0"/>
              <a:t>Zabbix 7.4</a:t>
            </a:r>
          </a:p>
          <a:p>
            <a:pPr marL="685800" lvl="1">
              <a:buFont typeface="Wingdings" panose="05000000000000000000" pitchFamily="2" charset="2"/>
              <a:buChar char="l"/>
            </a:pPr>
            <a:r>
              <a:rPr lang="en-US" altLang="ja-JP" dirty="0"/>
              <a:t>Cisco</a:t>
            </a:r>
            <a:r>
              <a:rPr lang="ja-JP" altLang="en-US" dirty="0"/>
              <a:t> </a:t>
            </a:r>
            <a:r>
              <a:rPr lang="en-US" altLang="ja-JP" dirty="0"/>
              <a:t>routers</a:t>
            </a:r>
            <a:r>
              <a:rPr lang="ja-JP" altLang="en-US" dirty="0"/>
              <a:t>（</a:t>
            </a:r>
            <a:r>
              <a:rPr lang="en-US" altLang="ja-JP" dirty="0"/>
              <a:t>Cisco Modeling Labs</a:t>
            </a:r>
            <a:r>
              <a:rPr lang="ja-JP" altLang="en-US" dirty="0"/>
              <a:t>）</a:t>
            </a:r>
            <a:endParaRPr lang="en-US" altLang="ja-JP" dirty="0"/>
          </a:p>
          <a:p>
            <a:pPr marL="685800" lvl="1">
              <a:buFont typeface="Wingdings" panose="05000000000000000000" pitchFamily="2" charset="2"/>
              <a:buChar char="l"/>
            </a:pPr>
            <a:endParaRPr lang="en-US" altLang="ja-JP" dirty="0"/>
          </a:p>
          <a:p>
            <a:pPr>
              <a:buFont typeface="Century Gothic" panose="020B0502020202020204" pitchFamily="34" charset="0"/>
              <a:buChar char="O"/>
            </a:pPr>
            <a:r>
              <a:rPr lang="en-US" altLang="ja-JP" dirty="0"/>
              <a:t>Scenario</a:t>
            </a:r>
          </a:p>
          <a:p>
            <a:pPr marL="0" indent="0">
              <a:buNone/>
            </a:pPr>
            <a:r>
              <a:rPr lang="en-US" altLang="ja-JP" sz="1600" dirty="0"/>
              <a:t>Configure Ethernet0/1 on Cisco router test1 as an OSPF passive interface. As a result, the OSPF adjacency between test1 and test2 goes down. The BGP peering session also goes down because it uses a Loopback0 IP address learned through OSPF.</a:t>
            </a:r>
            <a:endParaRPr lang="en-US" altLang="ja-JP" dirty="0"/>
          </a:p>
        </p:txBody>
      </p:sp>
      <p:pic>
        <p:nvPicPr>
          <p:cNvPr id="5" name="図 4">
            <a:extLst>
              <a:ext uri="{FF2B5EF4-FFF2-40B4-BE49-F238E27FC236}">
                <a16:creationId xmlns:a16="http://schemas.microsoft.com/office/drawing/2014/main" id="{3FCBD013-0611-C071-A997-D83705BBD4A0}"/>
              </a:ext>
            </a:extLst>
          </p:cNvPr>
          <p:cNvPicPr>
            <a:picLocks noChangeAspect="1"/>
          </p:cNvPicPr>
          <p:nvPr/>
        </p:nvPicPr>
        <p:blipFill>
          <a:blip r:embed="rId2"/>
          <a:stretch>
            <a:fillRect/>
          </a:stretch>
        </p:blipFill>
        <p:spPr>
          <a:xfrm>
            <a:off x="4901231" y="2360361"/>
            <a:ext cx="7092955" cy="3804650"/>
          </a:xfrm>
          <a:prstGeom prst="rect">
            <a:avLst/>
          </a:prstGeom>
        </p:spPr>
      </p:pic>
    </p:spTree>
    <p:extLst>
      <p:ext uri="{BB962C8B-B14F-4D97-AF65-F5344CB8AC3E}">
        <p14:creationId xmlns:p14="http://schemas.microsoft.com/office/powerpoint/2010/main" val="498942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D40B2-4FF7-7D73-FAF8-CEDA101A994C}"/>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0ED88651-6CEC-31C0-D92A-D2B0D837811B}"/>
              </a:ext>
            </a:extLst>
          </p:cNvPr>
          <p:cNvPicPr>
            <a:picLocks noChangeAspect="1"/>
          </p:cNvPicPr>
          <p:nvPr/>
        </p:nvPicPr>
        <p:blipFill>
          <a:blip r:embed="rId2"/>
          <a:stretch>
            <a:fillRect/>
          </a:stretch>
        </p:blipFill>
        <p:spPr>
          <a:xfrm>
            <a:off x="5047286" y="2468391"/>
            <a:ext cx="7092955" cy="3804650"/>
          </a:xfrm>
          <a:prstGeom prst="rect">
            <a:avLst/>
          </a:prstGeom>
        </p:spPr>
      </p:pic>
      <p:sp>
        <p:nvSpPr>
          <p:cNvPr id="14" name="コンテンツ プレースホルダー 2">
            <a:extLst>
              <a:ext uri="{FF2B5EF4-FFF2-40B4-BE49-F238E27FC236}">
                <a16:creationId xmlns:a16="http://schemas.microsoft.com/office/drawing/2014/main" id="{195B6DDA-AA78-AF7B-B62E-3325B1DE434E}"/>
              </a:ext>
            </a:extLst>
          </p:cNvPr>
          <p:cNvSpPr>
            <a:spLocks noGrp="1"/>
          </p:cNvSpPr>
          <p:nvPr>
            <p:ph idx="1"/>
          </p:nvPr>
        </p:nvSpPr>
        <p:spPr>
          <a:xfrm>
            <a:off x="388273" y="2173857"/>
            <a:ext cx="4557537" cy="3042249"/>
          </a:xfrm>
        </p:spPr>
        <p:txBody>
          <a:bodyPr anchor="t" anchorCtr="0">
            <a:noAutofit/>
          </a:bodyPr>
          <a:lstStyle/>
          <a:p>
            <a:pPr>
              <a:buFont typeface="+mj-lt"/>
              <a:buAutoNum type="arabicPeriod"/>
            </a:pPr>
            <a:r>
              <a:rPr lang="en-US" altLang="ja-JP" dirty="0"/>
              <a:t>Zabbix detected BGP and OSPF change events on Cisco router test1, as well as a loss of connectivity to Cisco router test2.</a:t>
            </a:r>
          </a:p>
        </p:txBody>
      </p:sp>
      <p:sp>
        <p:nvSpPr>
          <p:cNvPr id="16" name="四角形: 角を丸くする 15">
            <a:extLst>
              <a:ext uri="{FF2B5EF4-FFF2-40B4-BE49-F238E27FC236}">
                <a16:creationId xmlns:a16="http://schemas.microsoft.com/office/drawing/2014/main" id="{63A206D2-2E1F-84EF-3A6C-97BBF201E2AB}"/>
              </a:ext>
            </a:extLst>
          </p:cNvPr>
          <p:cNvSpPr/>
          <p:nvPr/>
        </p:nvSpPr>
        <p:spPr>
          <a:xfrm>
            <a:off x="5342627" y="4186686"/>
            <a:ext cx="960408" cy="184030"/>
          </a:xfrm>
          <a:prstGeom prst="roundRect">
            <a:avLst>
              <a:gd name="adj" fmla="val 30953"/>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837FEAB-4CFC-9DA0-DE07-FFBFA07B33A0}"/>
              </a:ext>
            </a:extLst>
          </p:cNvPr>
          <p:cNvSpPr/>
          <p:nvPr/>
        </p:nvSpPr>
        <p:spPr>
          <a:xfrm>
            <a:off x="8051320" y="4186686"/>
            <a:ext cx="983411" cy="18403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爆発: 14 pt 2">
            <a:extLst>
              <a:ext uri="{FF2B5EF4-FFF2-40B4-BE49-F238E27FC236}">
                <a16:creationId xmlns:a16="http://schemas.microsoft.com/office/drawing/2014/main" id="{73359E0E-17FA-F407-FBAC-1E66122C7313}"/>
              </a:ext>
            </a:extLst>
          </p:cNvPr>
          <p:cNvSpPr/>
          <p:nvPr/>
        </p:nvSpPr>
        <p:spPr>
          <a:xfrm>
            <a:off x="6924136" y="4031411"/>
            <a:ext cx="506083" cy="396814"/>
          </a:xfrm>
          <a:prstGeom prst="irregularSeal2">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D9B6E6D5-C6E7-8518-FDF8-097B809592CD}"/>
              </a:ext>
            </a:extLst>
          </p:cNvPr>
          <p:cNvSpPr txBox="1">
            <a:spLocks/>
          </p:cNvSpPr>
          <p:nvPr/>
        </p:nvSpPr>
        <p:spPr>
          <a:xfrm>
            <a:off x="86263" y="447188"/>
            <a:ext cx="12013721"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kumimoji="1" sz="4000" b="1" kern="1200">
                <a:solidFill>
                  <a:srgbClr val="FEFEFE"/>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a:t>“AI-Agent-for-Network-Operations” </a:t>
            </a:r>
            <a:br>
              <a:rPr lang="en-US" altLang="ja-JP" dirty="0"/>
            </a:br>
            <a:r>
              <a:rPr lang="en-US" altLang="ja-JP" dirty="0"/>
              <a:t>operation example</a:t>
            </a:r>
            <a:endParaRPr lang="ja-JP" altLang="en-US" dirty="0"/>
          </a:p>
        </p:txBody>
      </p:sp>
      <p:pic>
        <p:nvPicPr>
          <p:cNvPr id="9" name="図 8">
            <a:extLst>
              <a:ext uri="{FF2B5EF4-FFF2-40B4-BE49-F238E27FC236}">
                <a16:creationId xmlns:a16="http://schemas.microsoft.com/office/drawing/2014/main" id="{13F90E49-1F20-5D79-1590-CE4F1E87CD53}"/>
              </a:ext>
            </a:extLst>
          </p:cNvPr>
          <p:cNvPicPr>
            <a:picLocks noChangeAspect="1"/>
          </p:cNvPicPr>
          <p:nvPr/>
        </p:nvPicPr>
        <p:blipFill>
          <a:blip r:embed="rId3"/>
          <a:stretch>
            <a:fillRect/>
          </a:stretch>
        </p:blipFill>
        <p:spPr>
          <a:xfrm>
            <a:off x="299384" y="5400690"/>
            <a:ext cx="6819950" cy="1181109"/>
          </a:xfrm>
          <a:prstGeom prst="rect">
            <a:avLst/>
          </a:prstGeom>
          <a:ln>
            <a:solidFill>
              <a:schemeClr val="bg1"/>
            </a:solidFill>
          </a:ln>
        </p:spPr>
      </p:pic>
    </p:spTree>
    <p:extLst>
      <p:ext uri="{BB962C8B-B14F-4D97-AF65-F5344CB8AC3E}">
        <p14:creationId xmlns:p14="http://schemas.microsoft.com/office/powerpoint/2010/main" val="3548191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42D3-C2A6-F403-1BD8-450331917019}"/>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C4747D56-B5CD-3418-4B47-EE22D25B957D}"/>
              </a:ext>
            </a:extLst>
          </p:cNvPr>
          <p:cNvPicPr>
            <a:picLocks noChangeAspect="1"/>
          </p:cNvPicPr>
          <p:nvPr/>
        </p:nvPicPr>
        <p:blipFill>
          <a:blip r:embed="rId2"/>
          <a:stretch>
            <a:fillRect/>
          </a:stretch>
        </p:blipFill>
        <p:spPr>
          <a:xfrm>
            <a:off x="8081917" y="2041585"/>
            <a:ext cx="3617151" cy="4494684"/>
          </a:xfrm>
          <a:prstGeom prst="rect">
            <a:avLst/>
          </a:prstGeom>
        </p:spPr>
      </p:pic>
      <p:sp>
        <p:nvSpPr>
          <p:cNvPr id="2" name="コンテンツ プレースホルダー 2">
            <a:extLst>
              <a:ext uri="{FF2B5EF4-FFF2-40B4-BE49-F238E27FC236}">
                <a16:creationId xmlns:a16="http://schemas.microsoft.com/office/drawing/2014/main" id="{B53FEFFD-EA82-F0EC-36E9-9BB2354911D8}"/>
              </a:ext>
            </a:extLst>
          </p:cNvPr>
          <p:cNvSpPr>
            <a:spLocks noGrp="1"/>
          </p:cNvSpPr>
          <p:nvPr>
            <p:ph idx="1"/>
          </p:nvPr>
        </p:nvSpPr>
        <p:spPr>
          <a:xfrm>
            <a:off x="388274" y="2173857"/>
            <a:ext cx="7433010" cy="3042249"/>
          </a:xfrm>
        </p:spPr>
        <p:txBody>
          <a:bodyPr anchor="t" anchorCtr="0">
            <a:noAutofit/>
          </a:bodyPr>
          <a:lstStyle/>
          <a:p>
            <a:pPr>
              <a:buFont typeface="+mj-lt"/>
              <a:buAutoNum type="arabicPeriod" startAt="2"/>
            </a:pPr>
            <a:r>
              <a:rPr lang="en-US" altLang="ja-JP" dirty="0"/>
              <a:t>The user submits the inquiry "The network is not working" through the prompt.</a:t>
            </a:r>
            <a:r>
              <a:rPr lang="ja-JP" altLang="en-US" dirty="0"/>
              <a:t>。</a:t>
            </a:r>
            <a:endParaRPr lang="en-US" altLang="ja-JP" dirty="0"/>
          </a:p>
        </p:txBody>
      </p:sp>
      <p:sp>
        <p:nvSpPr>
          <p:cNvPr id="5" name="テキスト ボックス 4">
            <a:extLst>
              <a:ext uri="{FF2B5EF4-FFF2-40B4-BE49-F238E27FC236}">
                <a16:creationId xmlns:a16="http://schemas.microsoft.com/office/drawing/2014/main" id="{A27B5290-C338-3B7F-D46C-9797457EF1D4}"/>
              </a:ext>
            </a:extLst>
          </p:cNvPr>
          <p:cNvSpPr txBox="1"/>
          <p:nvPr/>
        </p:nvSpPr>
        <p:spPr>
          <a:xfrm>
            <a:off x="873560" y="3108379"/>
            <a:ext cx="4531743" cy="523220"/>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[conversation]</a:t>
            </a:r>
          </a:p>
          <a:p>
            <a:pPr fontAlgn="base" latinLnBrk="1"/>
            <a:r>
              <a:rPr lang="ja-JP" altLang="ja-JP" sz="1400" dirty="0">
                <a:solidFill>
                  <a:schemeClr val="bg1"/>
                </a:solidFill>
              </a:rPr>
              <a:t>User inquiry: I cannot use network</a:t>
            </a:r>
          </a:p>
        </p:txBody>
      </p:sp>
      <p:sp>
        <p:nvSpPr>
          <p:cNvPr id="13" name="四角形: 角を丸くする 12">
            <a:extLst>
              <a:ext uri="{FF2B5EF4-FFF2-40B4-BE49-F238E27FC236}">
                <a16:creationId xmlns:a16="http://schemas.microsoft.com/office/drawing/2014/main" id="{ACA10AA9-4843-451B-BFF3-E7A9C37CFD21}"/>
              </a:ext>
            </a:extLst>
          </p:cNvPr>
          <p:cNvSpPr/>
          <p:nvPr/>
        </p:nvSpPr>
        <p:spPr>
          <a:xfrm>
            <a:off x="9696675" y="2763324"/>
            <a:ext cx="1621765" cy="34505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5DCD6581-2D7B-560E-C77F-6EB24C9A37D1}"/>
              </a:ext>
            </a:extLst>
          </p:cNvPr>
          <p:cNvSpPr/>
          <p:nvPr/>
        </p:nvSpPr>
        <p:spPr>
          <a:xfrm>
            <a:off x="4137965" y="4951562"/>
            <a:ext cx="2058838" cy="874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AI agent</a:t>
            </a:r>
            <a:endParaRPr kumimoji="1" lang="ja-JP" altLang="en-US" dirty="0"/>
          </a:p>
        </p:txBody>
      </p:sp>
      <p:pic>
        <p:nvPicPr>
          <p:cNvPr id="9" name="グラフィックス 8" descr="男性のプロフィール 単色塗りつぶし">
            <a:extLst>
              <a:ext uri="{FF2B5EF4-FFF2-40B4-BE49-F238E27FC236}">
                <a16:creationId xmlns:a16="http://schemas.microsoft.com/office/drawing/2014/main" id="{2DF7B547-C942-BB0B-7ADD-A9C5BCF0CE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683" y="4974982"/>
            <a:ext cx="914400" cy="914400"/>
          </a:xfrm>
          <a:prstGeom prst="rect">
            <a:avLst/>
          </a:prstGeom>
        </p:spPr>
      </p:pic>
      <p:cxnSp>
        <p:nvCxnSpPr>
          <p:cNvPr id="12" name="直線矢印コネクタ 11">
            <a:extLst>
              <a:ext uri="{FF2B5EF4-FFF2-40B4-BE49-F238E27FC236}">
                <a16:creationId xmlns:a16="http://schemas.microsoft.com/office/drawing/2014/main" id="{5258361A-DD2D-4AB5-31ED-611736FF52E1}"/>
              </a:ext>
            </a:extLst>
          </p:cNvPr>
          <p:cNvCxnSpPr>
            <a:cxnSpLocks/>
          </p:cNvCxnSpPr>
          <p:nvPr/>
        </p:nvCxnSpPr>
        <p:spPr>
          <a:xfrm>
            <a:off x="2087593" y="5405887"/>
            <a:ext cx="1685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315C18FD-15E2-D79D-2A71-0B6F10B07E2F}"/>
              </a:ext>
            </a:extLst>
          </p:cNvPr>
          <p:cNvSpPr txBox="1"/>
          <p:nvPr/>
        </p:nvSpPr>
        <p:spPr>
          <a:xfrm>
            <a:off x="2155407" y="4628396"/>
            <a:ext cx="1857233" cy="646331"/>
          </a:xfrm>
          <a:prstGeom prst="rect">
            <a:avLst/>
          </a:prstGeom>
          <a:noFill/>
        </p:spPr>
        <p:txBody>
          <a:bodyPr wrap="square" rtlCol="0">
            <a:spAutoFit/>
          </a:bodyPr>
          <a:lstStyle/>
          <a:p>
            <a:r>
              <a:rPr kumimoji="1" lang="en-US" altLang="ja-JP" dirty="0"/>
              <a:t>Inquiry through</a:t>
            </a:r>
          </a:p>
          <a:p>
            <a:r>
              <a:rPr kumimoji="1" lang="en-US" altLang="ja-JP" dirty="0"/>
              <a:t>prompt</a:t>
            </a:r>
            <a:endParaRPr kumimoji="1" lang="ja-JP" altLang="en-US" dirty="0"/>
          </a:p>
        </p:txBody>
      </p:sp>
      <p:sp>
        <p:nvSpPr>
          <p:cNvPr id="21" name="タイトル 1">
            <a:extLst>
              <a:ext uri="{FF2B5EF4-FFF2-40B4-BE49-F238E27FC236}">
                <a16:creationId xmlns:a16="http://schemas.microsoft.com/office/drawing/2014/main" id="{2C4EF7F7-9D1E-E699-92A6-E7199306806B}"/>
              </a:ext>
            </a:extLst>
          </p:cNvPr>
          <p:cNvSpPr txBox="1">
            <a:spLocks/>
          </p:cNvSpPr>
          <p:nvPr/>
        </p:nvSpPr>
        <p:spPr>
          <a:xfrm>
            <a:off x="86263" y="447188"/>
            <a:ext cx="12013721"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kumimoji="1" sz="4000" b="1" kern="1200">
                <a:solidFill>
                  <a:srgbClr val="FEFEFE"/>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a:t>“AI-Agent-for-Network-Operations” </a:t>
            </a:r>
            <a:br>
              <a:rPr lang="en-US" altLang="ja-JP" dirty="0"/>
            </a:br>
            <a:r>
              <a:rPr lang="en-US" altLang="ja-JP" dirty="0"/>
              <a:t>operation example</a:t>
            </a:r>
            <a:endParaRPr lang="ja-JP" altLang="en-US" dirty="0"/>
          </a:p>
        </p:txBody>
      </p:sp>
    </p:spTree>
    <p:extLst>
      <p:ext uri="{BB962C8B-B14F-4D97-AF65-F5344CB8AC3E}">
        <p14:creationId xmlns:p14="http://schemas.microsoft.com/office/powerpoint/2010/main" val="1684490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0E1A9-1B45-9D96-392B-D912C722726C}"/>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5C81D187-342A-A652-72A5-52A00B7628EB}"/>
              </a:ext>
            </a:extLst>
          </p:cNvPr>
          <p:cNvPicPr>
            <a:picLocks noChangeAspect="1"/>
          </p:cNvPicPr>
          <p:nvPr/>
        </p:nvPicPr>
        <p:blipFill>
          <a:blip r:embed="rId2"/>
          <a:stretch>
            <a:fillRect/>
          </a:stretch>
        </p:blipFill>
        <p:spPr>
          <a:xfrm>
            <a:off x="8081917" y="2041585"/>
            <a:ext cx="3617151" cy="4494684"/>
          </a:xfrm>
          <a:prstGeom prst="rect">
            <a:avLst/>
          </a:prstGeom>
        </p:spPr>
      </p:pic>
      <p:sp>
        <p:nvSpPr>
          <p:cNvPr id="7" name="タイトル 1">
            <a:extLst>
              <a:ext uri="{FF2B5EF4-FFF2-40B4-BE49-F238E27FC236}">
                <a16:creationId xmlns:a16="http://schemas.microsoft.com/office/drawing/2014/main" id="{367AC2B1-AD38-DD2D-C18B-44B573582498}"/>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9" name="四角形: 角を丸くする 8">
            <a:extLst>
              <a:ext uri="{FF2B5EF4-FFF2-40B4-BE49-F238E27FC236}">
                <a16:creationId xmlns:a16="http://schemas.microsoft.com/office/drawing/2014/main" id="{8A4D67C7-3B8B-8F8F-5A0F-E96CDE2F2158}"/>
              </a:ext>
            </a:extLst>
          </p:cNvPr>
          <p:cNvSpPr/>
          <p:nvPr/>
        </p:nvSpPr>
        <p:spPr>
          <a:xfrm>
            <a:off x="9696675" y="3309669"/>
            <a:ext cx="1621765" cy="34505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2">
            <a:extLst>
              <a:ext uri="{FF2B5EF4-FFF2-40B4-BE49-F238E27FC236}">
                <a16:creationId xmlns:a16="http://schemas.microsoft.com/office/drawing/2014/main" id="{764F3FB0-436E-24F1-6276-A306936F9C7C}"/>
              </a:ext>
            </a:extLst>
          </p:cNvPr>
          <p:cNvSpPr>
            <a:spLocks noGrp="1"/>
          </p:cNvSpPr>
          <p:nvPr>
            <p:ph idx="1"/>
          </p:nvPr>
        </p:nvSpPr>
        <p:spPr>
          <a:xfrm>
            <a:off x="388273" y="2173857"/>
            <a:ext cx="7576783" cy="3042249"/>
          </a:xfrm>
        </p:spPr>
        <p:txBody>
          <a:bodyPr anchor="t" anchorCtr="0">
            <a:noAutofit/>
          </a:bodyPr>
          <a:lstStyle/>
          <a:p>
            <a:pPr>
              <a:buFont typeface="+mj-lt"/>
              <a:buAutoNum type="arabicPeriod" startAt="3"/>
            </a:pPr>
            <a:r>
              <a:rPr lang="en-US" altLang="ja-JP" dirty="0"/>
              <a:t>Execute the “</a:t>
            </a:r>
            <a:r>
              <a:rPr lang="en-US" altLang="ja-JP" dirty="0" err="1"/>
              <a:t>get_zabbix_problems</a:t>
            </a:r>
            <a:r>
              <a:rPr lang="en-US" altLang="ja-JP" dirty="0"/>
              <a:t>” tool. Use the Zabbix API to retrieve problem information from Zabbix and the IP addresses of the devices associated with those problems. Retrieve information about BGP and OSPF change events on test1, the loss of connectivity to test2, and the corresponding IP addresses.</a:t>
            </a:r>
          </a:p>
        </p:txBody>
      </p:sp>
      <p:sp>
        <p:nvSpPr>
          <p:cNvPr id="5" name="テキスト ボックス 4">
            <a:extLst>
              <a:ext uri="{FF2B5EF4-FFF2-40B4-BE49-F238E27FC236}">
                <a16:creationId xmlns:a16="http://schemas.microsoft.com/office/drawing/2014/main" id="{2C283F27-1C89-8A85-C6C3-CCE9D8E7D865}"/>
              </a:ext>
            </a:extLst>
          </p:cNvPr>
          <p:cNvSpPr txBox="1"/>
          <p:nvPr/>
        </p:nvSpPr>
        <p:spPr>
          <a:xfrm>
            <a:off x="873560" y="3862929"/>
            <a:ext cx="6236154" cy="1600438"/>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[zabbix] Retrieving problems from Zabbix</a:t>
            </a:r>
          </a:p>
          <a:p>
            <a:pPr fontAlgn="base" latinLnBrk="1"/>
            <a:r>
              <a:rPr lang="ja-JP" altLang="ja-JP" sz="1400" dirty="0">
                <a:solidFill>
                  <a:schemeClr val="bg1"/>
                </a:solidFill>
              </a:rPr>
              <a:t>[zabbix] Target: test2 10.0.0.2</a:t>
            </a:r>
          </a:p>
          <a:p>
            <a:pPr fontAlgn="base" latinLnBrk="1"/>
            <a:r>
              <a:rPr lang="ja-JP" altLang="ja-JP" sz="1400" dirty="0">
                <a:solidFill>
                  <a:schemeClr val="bg1"/>
                </a:solidFill>
              </a:rPr>
              <a:t>[zabbix] Problem: Cisco IOS: Unavailable by ICMP ping</a:t>
            </a:r>
          </a:p>
          <a:p>
            <a:pPr fontAlgn="base" latinLnBrk="1"/>
            <a:r>
              <a:rPr lang="ja-JP" altLang="ja-JP" sz="1400" dirty="0">
                <a:solidFill>
                  <a:schemeClr val="bg1"/>
                </a:solidFill>
              </a:rPr>
              <a:t>[zabbix] Target: test1 172.16.1.254</a:t>
            </a:r>
          </a:p>
          <a:p>
            <a:pPr fontAlgn="base" latinLnBrk="1"/>
            <a:r>
              <a:rPr lang="ja-JP" altLang="ja-JP" sz="1400" dirty="0">
                <a:solidFill>
                  <a:schemeClr val="bg1"/>
                </a:solidFill>
              </a:rPr>
              <a:t>[zabbix] Problem: BGP change (trap)</a:t>
            </a:r>
          </a:p>
          <a:p>
            <a:pPr fontAlgn="base" latinLnBrk="1"/>
            <a:r>
              <a:rPr lang="ja-JP" altLang="ja-JP" sz="1400" dirty="0">
                <a:solidFill>
                  <a:schemeClr val="bg1"/>
                </a:solidFill>
              </a:rPr>
              <a:t>[zabbix] Target: test1 172.16.1.254</a:t>
            </a:r>
          </a:p>
          <a:p>
            <a:pPr fontAlgn="base" latinLnBrk="1"/>
            <a:r>
              <a:rPr lang="ja-JP" altLang="ja-JP" sz="1400" dirty="0">
                <a:solidFill>
                  <a:schemeClr val="bg1"/>
                </a:solidFill>
              </a:rPr>
              <a:t>[zabbix] Problem: OSPF change (trap)</a:t>
            </a:r>
          </a:p>
        </p:txBody>
      </p:sp>
      <p:sp>
        <p:nvSpPr>
          <p:cNvPr id="4" name="正方形/長方形 3">
            <a:extLst>
              <a:ext uri="{FF2B5EF4-FFF2-40B4-BE49-F238E27FC236}">
                <a16:creationId xmlns:a16="http://schemas.microsoft.com/office/drawing/2014/main" id="{BC334771-C46D-C919-89D7-01A2D7A02751}"/>
              </a:ext>
            </a:extLst>
          </p:cNvPr>
          <p:cNvSpPr/>
          <p:nvPr/>
        </p:nvSpPr>
        <p:spPr>
          <a:xfrm>
            <a:off x="873560" y="5644522"/>
            <a:ext cx="2058838" cy="874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AI agent</a:t>
            </a:r>
            <a:endParaRPr kumimoji="1" lang="ja-JP" altLang="en-US" dirty="0"/>
          </a:p>
        </p:txBody>
      </p:sp>
      <p:cxnSp>
        <p:nvCxnSpPr>
          <p:cNvPr id="11" name="直線矢印コネクタ 10">
            <a:extLst>
              <a:ext uri="{FF2B5EF4-FFF2-40B4-BE49-F238E27FC236}">
                <a16:creationId xmlns:a16="http://schemas.microsoft.com/office/drawing/2014/main" id="{E51E644B-D59D-AE84-61FE-C79AD42C7157}"/>
              </a:ext>
            </a:extLst>
          </p:cNvPr>
          <p:cNvCxnSpPr>
            <a:cxnSpLocks/>
          </p:cNvCxnSpPr>
          <p:nvPr/>
        </p:nvCxnSpPr>
        <p:spPr>
          <a:xfrm>
            <a:off x="3229637" y="6061496"/>
            <a:ext cx="1685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4DD81A19-35A6-5599-7571-E776EFBF8E6D}"/>
              </a:ext>
            </a:extLst>
          </p:cNvPr>
          <p:cNvSpPr/>
          <p:nvPr/>
        </p:nvSpPr>
        <p:spPr>
          <a:xfrm>
            <a:off x="5166479" y="5630175"/>
            <a:ext cx="2058838" cy="874144"/>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Zabbix</a:t>
            </a:r>
            <a:endParaRPr kumimoji="1" lang="ja-JP" altLang="en-US" dirty="0"/>
          </a:p>
        </p:txBody>
      </p:sp>
      <p:sp>
        <p:nvSpPr>
          <p:cNvPr id="14" name="四角形: 角を丸くする 13">
            <a:extLst>
              <a:ext uri="{FF2B5EF4-FFF2-40B4-BE49-F238E27FC236}">
                <a16:creationId xmlns:a16="http://schemas.microsoft.com/office/drawing/2014/main" id="{781D941D-72FE-67B4-DD4C-9054D9F03953}"/>
              </a:ext>
            </a:extLst>
          </p:cNvPr>
          <p:cNvSpPr/>
          <p:nvPr/>
        </p:nvSpPr>
        <p:spPr>
          <a:xfrm>
            <a:off x="6676845" y="5469148"/>
            <a:ext cx="1405072" cy="695863"/>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problems</a:t>
            </a:r>
          </a:p>
          <a:p>
            <a:pPr algn="ctr"/>
            <a:r>
              <a:rPr kumimoji="1" lang="en-US" altLang="ja-JP" dirty="0">
                <a:solidFill>
                  <a:sysClr val="windowText" lastClr="000000"/>
                </a:solidFill>
              </a:rPr>
              <a:t>IP address</a:t>
            </a:r>
            <a:endParaRPr kumimoji="1" lang="ja-JP" altLang="en-US" dirty="0">
              <a:solidFill>
                <a:sysClr val="windowText" lastClr="000000"/>
              </a:solidFill>
            </a:endParaRPr>
          </a:p>
        </p:txBody>
      </p:sp>
      <p:sp>
        <p:nvSpPr>
          <p:cNvPr id="16" name="テキスト ボックス 15">
            <a:extLst>
              <a:ext uri="{FF2B5EF4-FFF2-40B4-BE49-F238E27FC236}">
                <a16:creationId xmlns:a16="http://schemas.microsoft.com/office/drawing/2014/main" id="{AB55B110-7BB9-7696-706B-C8FC69563B51}"/>
              </a:ext>
            </a:extLst>
          </p:cNvPr>
          <p:cNvSpPr txBox="1"/>
          <p:nvPr/>
        </p:nvSpPr>
        <p:spPr>
          <a:xfrm>
            <a:off x="3521709" y="5644522"/>
            <a:ext cx="1028514" cy="369332"/>
          </a:xfrm>
          <a:prstGeom prst="rect">
            <a:avLst/>
          </a:prstGeom>
          <a:noFill/>
        </p:spPr>
        <p:txBody>
          <a:bodyPr wrap="square" rtlCol="0">
            <a:spAutoFit/>
          </a:bodyPr>
          <a:lstStyle/>
          <a:p>
            <a:pPr algn="ctr"/>
            <a:r>
              <a:rPr kumimoji="1" lang="en-US" altLang="ja-JP" dirty="0"/>
              <a:t>API</a:t>
            </a:r>
            <a:endParaRPr kumimoji="1" lang="ja-JP" altLang="en-US" dirty="0"/>
          </a:p>
        </p:txBody>
      </p:sp>
    </p:spTree>
    <p:extLst>
      <p:ext uri="{BB962C8B-B14F-4D97-AF65-F5344CB8AC3E}">
        <p14:creationId xmlns:p14="http://schemas.microsoft.com/office/powerpoint/2010/main" val="385590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0B82-025B-BCD6-65E1-6491D548FC79}"/>
            </a:ext>
          </a:extLst>
        </p:cNvPr>
        <p:cNvGrpSpPr/>
        <p:nvPr/>
      </p:nvGrpSpPr>
      <p:grpSpPr>
        <a:xfrm>
          <a:off x="0" y="0"/>
          <a:ext cx="0" cy="0"/>
          <a:chOff x="0" y="0"/>
          <a:chExt cx="0" cy="0"/>
        </a:xfrm>
      </p:grpSpPr>
      <p:pic>
        <p:nvPicPr>
          <p:cNvPr id="12" name="図 11">
            <a:extLst>
              <a:ext uri="{FF2B5EF4-FFF2-40B4-BE49-F238E27FC236}">
                <a16:creationId xmlns:a16="http://schemas.microsoft.com/office/drawing/2014/main" id="{E4638C8F-6739-369D-BD62-4882F87CDDF9}"/>
              </a:ext>
            </a:extLst>
          </p:cNvPr>
          <p:cNvPicPr>
            <a:picLocks noChangeAspect="1"/>
          </p:cNvPicPr>
          <p:nvPr/>
        </p:nvPicPr>
        <p:blipFill>
          <a:blip r:embed="rId2"/>
          <a:stretch>
            <a:fillRect/>
          </a:stretch>
        </p:blipFill>
        <p:spPr>
          <a:xfrm>
            <a:off x="8081917" y="2041585"/>
            <a:ext cx="3617151" cy="4494684"/>
          </a:xfrm>
          <a:prstGeom prst="rect">
            <a:avLst/>
          </a:prstGeom>
        </p:spPr>
      </p:pic>
      <p:sp>
        <p:nvSpPr>
          <p:cNvPr id="7" name="タイトル 1">
            <a:extLst>
              <a:ext uri="{FF2B5EF4-FFF2-40B4-BE49-F238E27FC236}">
                <a16:creationId xmlns:a16="http://schemas.microsoft.com/office/drawing/2014/main" id="{7754359D-B195-F417-5331-6DED100E356E}"/>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9" name="四角形: 角を丸くする 8">
            <a:extLst>
              <a:ext uri="{FF2B5EF4-FFF2-40B4-BE49-F238E27FC236}">
                <a16:creationId xmlns:a16="http://schemas.microsoft.com/office/drawing/2014/main" id="{C5CBE6F3-5811-8825-356F-3721C96234DF}"/>
              </a:ext>
            </a:extLst>
          </p:cNvPr>
          <p:cNvSpPr/>
          <p:nvPr/>
        </p:nvSpPr>
        <p:spPr>
          <a:xfrm>
            <a:off x="9696675" y="3919275"/>
            <a:ext cx="1621765" cy="34505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2">
            <a:extLst>
              <a:ext uri="{FF2B5EF4-FFF2-40B4-BE49-F238E27FC236}">
                <a16:creationId xmlns:a16="http://schemas.microsoft.com/office/drawing/2014/main" id="{0DC9858C-D897-B5C1-7EB8-759EAFEF34CD}"/>
              </a:ext>
            </a:extLst>
          </p:cNvPr>
          <p:cNvSpPr>
            <a:spLocks noGrp="1"/>
          </p:cNvSpPr>
          <p:nvPr>
            <p:ph idx="1"/>
          </p:nvPr>
        </p:nvSpPr>
        <p:spPr>
          <a:xfrm>
            <a:off x="388274" y="2173857"/>
            <a:ext cx="7047696" cy="3042249"/>
          </a:xfrm>
        </p:spPr>
        <p:txBody>
          <a:bodyPr anchor="t" anchorCtr="0">
            <a:noAutofit/>
          </a:bodyPr>
          <a:lstStyle/>
          <a:p>
            <a:pPr>
              <a:buFont typeface="+mj-lt"/>
              <a:buAutoNum type="arabicPeriod" startAt="4"/>
            </a:pPr>
            <a:r>
              <a:rPr lang="en-US" altLang="ja-JP" dirty="0"/>
              <a:t>Execute the “</a:t>
            </a:r>
            <a:r>
              <a:rPr lang="en-US" altLang="ja-JP" dirty="0" err="1"/>
              <a:t>get_cisco_cli</a:t>
            </a:r>
            <a:r>
              <a:rPr lang="en-US" altLang="ja-JP" dirty="0"/>
              <a:t>” tool based on the IP addresses retrieved from Zabbix. Use </a:t>
            </a:r>
            <a:r>
              <a:rPr lang="en-US" altLang="ja-JP" dirty="0" err="1"/>
              <a:t>Netmiko</a:t>
            </a:r>
            <a:r>
              <a:rPr lang="en-US" altLang="ja-JP" dirty="0"/>
              <a:t> to access the Cisco devices via SSH, execute the CLI commands (show </a:t>
            </a:r>
            <a:r>
              <a:rPr lang="en-US" altLang="ja-JP" dirty="0" err="1"/>
              <a:t>ip</a:t>
            </a:r>
            <a:r>
              <a:rPr lang="en-US" altLang="ja-JP" dirty="0"/>
              <a:t> int brief, show </a:t>
            </a:r>
            <a:r>
              <a:rPr lang="en-US" altLang="ja-JP" dirty="0" err="1"/>
              <a:t>ip</a:t>
            </a:r>
            <a:r>
              <a:rPr lang="en-US" altLang="ja-JP" dirty="0"/>
              <a:t> </a:t>
            </a:r>
            <a:r>
              <a:rPr lang="en-US" altLang="ja-JP" dirty="0" err="1"/>
              <a:t>ospf</a:t>
            </a:r>
            <a:r>
              <a:rPr lang="en-US" altLang="ja-JP" dirty="0"/>
              <a:t> </a:t>
            </a:r>
            <a:r>
              <a:rPr lang="en-US" altLang="ja-JP" dirty="0" err="1"/>
              <a:t>nei</a:t>
            </a:r>
            <a:r>
              <a:rPr lang="en-US" altLang="ja-JP" dirty="0"/>
              <a:t>, and show </a:t>
            </a:r>
            <a:r>
              <a:rPr lang="en-US" altLang="ja-JP" dirty="0" err="1"/>
              <a:t>ip</a:t>
            </a:r>
            <a:r>
              <a:rPr lang="en-US" altLang="ja-JP" dirty="0"/>
              <a:t> </a:t>
            </a:r>
            <a:r>
              <a:rPr lang="en-US" altLang="ja-JP" dirty="0" err="1"/>
              <a:t>bgp</a:t>
            </a:r>
            <a:r>
              <a:rPr lang="en-US" altLang="ja-JP" dirty="0"/>
              <a:t> summary), and retrieve the command output.</a:t>
            </a:r>
          </a:p>
        </p:txBody>
      </p:sp>
      <p:sp>
        <p:nvSpPr>
          <p:cNvPr id="5" name="テキスト ボックス 4">
            <a:extLst>
              <a:ext uri="{FF2B5EF4-FFF2-40B4-BE49-F238E27FC236}">
                <a16:creationId xmlns:a16="http://schemas.microsoft.com/office/drawing/2014/main" id="{4D243E46-7D3A-C62F-564F-8665E19D0E9C}"/>
              </a:ext>
            </a:extLst>
          </p:cNvPr>
          <p:cNvSpPr txBox="1"/>
          <p:nvPr/>
        </p:nvSpPr>
        <p:spPr>
          <a:xfrm>
            <a:off x="753373" y="3694981"/>
            <a:ext cx="6883880" cy="523220"/>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[ssh] Target: 172.16.1.254</a:t>
            </a:r>
          </a:p>
          <a:p>
            <a:pPr fontAlgn="base" latinLnBrk="1"/>
            <a:r>
              <a:rPr lang="ja-JP" altLang="ja-JP" sz="1400" dirty="0">
                <a:solidFill>
                  <a:schemeClr val="bg1"/>
                </a:solidFill>
              </a:rPr>
              <a:t>[ssh] Commands: ['show ip int brief', 'show ip ospf nei', 'show ip bgp summary']</a:t>
            </a:r>
          </a:p>
        </p:txBody>
      </p:sp>
      <p:sp>
        <p:nvSpPr>
          <p:cNvPr id="3" name="正方形/長方形 2">
            <a:extLst>
              <a:ext uri="{FF2B5EF4-FFF2-40B4-BE49-F238E27FC236}">
                <a16:creationId xmlns:a16="http://schemas.microsoft.com/office/drawing/2014/main" id="{C1E13BC0-6BF8-F362-CB8C-12CD2C95CA4D}"/>
              </a:ext>
            </a:extLst>
          </p:cNvPr>
          <p:cNvSpPr/>
          <p:nvPr/>
        </p:nvSpPr>
        <p:spPr>
          <a:xfrm>
            <a:off x="876437" y="4865181"/>
            <a:ext cx="2058838" cy="874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AI agent</a:t>
            </a:r>
            <a:endParaRPr kumimoji="1" lang="ja-JP" altLang="en-US" dirty="0"/>
          </a:p>
        </p:txBody>
      </p:sp>
      <p:cxnSp>
        <p:nvCxnSpPr>
          <p:cNvPr id="4" name="直線矢印コネクタ 3">
            <a:extLst>
              <a:ext uri="{FF2B5EF4-FFF2-40B4-BE49-F238E27FC236}">
                <a16:creationId xmlns:a16="http://schemas.microsoft.com/office/drawing/2014/main" id="{01AED348-0E39-FAAB-07DF-C5E89867E692}"/>
              </a:ext>
            </a:extLst>
          </p:cNvPr>
          <p:cNvCxnSpPr>
            <a:cxnSpLocks/>
          </p:cNvCxnSpPr>
          <p:nvPr/>
        </p:nvCxnSpPr>
        <p:spPr>
          <a:xfrm>
            <a:off x="3232514" y="5282155"/>
            <a:ext cx="1685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四角形: 角を丸くする 5">
            <a:extLst>
              <a:ext uri="{FF2B5EF4-FFF2-40B4-BE49-F238E27FC236}">
                <a16:creationId xmlns:a16="http://schemas.microsoft.com/office/drawing/2014/main" id="{1A12B34F-22AB-4362-48A7-D247B4A5A5E2}"/>
              </a:ext>
            </a:extLst>
          </p:cNvPr>
          <p:cNvSpPr/>
          <p:nvPr/>
        </p:nvSpPr>
        <p:spPr>
          <a:xfrm>
            <a:off x="5187351" y="4845085"/>
            <a:ext cx="1817298" cy="874139"/>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router</a:t>
            </a:r>
          </a:p>
          <a:p>
            <a:pPr algn="ctr"/>
            <a:r>
              <a:rPr kumimoji="1" lang="en-US" altLang="ja-JP" dirty="0"/>
              <a:t>test1</a:t>
            </a:r>
            <a:endParaRPr kumimoji="1" lang="ja-JP" altLang="en-US" dirty="0"/>
          </a:p>
        </p:txBody>
      </p:sp>
      <p:sp>
        <p:nvSpPr>
          <p:cNvPr id="11" name="四角形: 角を丸くする 10">
            <a:extLst>
              <a:ext uri="{FF2B5EF4-FFF2-40B4-BE49-F238E27FC236}">
                <a16:creationId xmlns:a16="http://schemas.microsoft.com/office/drawing/2014/main" id="{3A6F2120-775B-D399-10F1-4B399D552F96}"/>
              </a:ext>
            </a:extLst>
          </p:cNvPr>
          <p:cNvSpPr/>
          <p:nvPr/>
        </p:nvSpPr>
        <p:spPr>
          <a:xfrm>
            <a:off x="2139352" y="4546033"/>
            <a:ext cx="1413990" cy="52322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IP</a:t>
            </a:r>
            <a:r>
              <a:rPr kumimoji="1" lang="ja-JP" altLang="en-US" dirty="0">
                <a:solidFill>
                  <a:sysClr val="windowText" lastClr="000000"/>
                </a:solidFill>
              </a:rPr>
              <a:t> </a:t>
            </a:r>
            <a:r>
              <a:rPr kumimoji="1" lang="en-US" altLang="ja-JP" dirty="0">
                <a:solidFill>
                  <a:sysClr val="windowText" lastClr="000000"/>
                </a:solidFill>
              </a:rPr>
              <a:t>address</a:t>
            </a:r>
            <a:endParaRPr kumimoji="1" lang="ja-JP" altLang="en-US" dirty="0">
              <a:solidFill>
                <a:sysClr val="windowText" lastClr="000000"/>
              </a:solidFill>
            </a:endParaRPr>
          </a:p>
        </p:txBody>
      </p:sp>
      <p:sp>
        <p:nvSpPr>
          <p:cNvPr id="13" name="テキスト ボックス 12">
            <a:extLst>
              <a:ext uri="{FF2B5EF4-FFF2-40B4-BE49-F238E27FC236}">
                <a16:creationId xmlns:a16="http://schemas.microsoft.com/office/drawing/2014/main" id="{D3D53394-1B98-18BD-30AB-3166CB973A8B}"/>
              </a:ext>
            </a:extLst>
          </p:cNvPr>
          <p:cNvSpPr txBox="1"/>
          <p:nvPr/>
        </p:nvSpPr>
        <p:spPr>
          <a:xfrm>
            <a:off x="3524586" y="4865181"/>
            <a:ext cx="1028514" cy="369332"/>
          </a:xfrm>
          <a:prstGeom prst="rect">
            <a:avLst/>
          </a:prstGeom>
          <a:noFill/>
        </p:spPr>
        <p:txBody>
          <a:bodyPr wrap="square" rtlCol="0">
            <a:spAutoFit/>
          </a:bodyPr>
          <a:lstStyle/>
          <a:p>
            <a:pPr algn="ctr"/>
            <a:r>
              <a:rPr kumimoji="1" lang="en-US" altLang="ja-JP" dirty="0"/>
              <a:t>SSH</a:t>
            </a:r>
            <a:endParaRPr kumimoji="1" lang="ja-JP" altLang="en-US" dirty="0"/>
          </a:p>
        </p:txBody>
      </p:sp>
      <p:sp>
        <p:nvSpPr>
          <p:cNvPr id="15" name="四角形: 角を丸くする 14">
            <a:extLst>
              <a:ext uri="{FF2B5EF4-FFF2-40B4-BE49-F238E27FC236}">
                <a16:creationId xmlns:a16="http://schemas.microsoft.com/office/drawing/2014/main" id="{224C3252-CF25-5B09-CBAA-0DA3352CF7B7}"/>
              </a:ext>
            </a:extLst>
          </p:cNvPr>
          <p:cNvSpPr/>
          <p:nvPr/>
        </p:nvSpPr>
        <p:spPr>
          <a:xfrm>
            <a:off x="4624745" y="5842990"/>
            <a:ext cx="2942510" cy="87413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solidFill>
                  <a:sysClr val="windowText" lastClr="000000"/>
                </a:solidFill>
              </a:rPr>
              <a:t>show </a:t>
            </a:r>
            <a:r>
              <a:rPr kumimoji="1" lang="en-US" altLang="ja-JP" dirty="0" err="1">
                <a:solidFill>
                  <a:sysClr val="windowText" lastClr="000000"/>
                </a:solidFill>
              </a:rPr>
              <a:t>ip</a:t>
            </a:r>
            <a:r>
              <a:rPr kumimoji="1" lang="en-US" altLang="ja-JP" dirty="0">
                <a:solidFill>
                  <a:sysClr val="windowText" lastClr="000000"/>
                </a:solidFill>
              </a:rPr>
              <a:t> int brief</a:t>
            </a:r>
          </a:p>
          <a:p>
            <a:r>
              <a:rPr kumimoji="1" lang="en-US" altLang="ja-JP" dirty="0">
                <a:solidFill>
                  <a:sysClr val="windowText" lastClr="000000"/>
                </a:solidFill>
              </a:rPr>
              <a:t>show </a:t>
            </a:r>
            <a:r>
              <a:rPr kumimoji="1" lang="en-US" altLang="ja-JP" dirty="0" err="1">
                <a:solidFill>
                  <a:sysClr val="windowText" lastClr="000000"/>
                </a:solidFill>
              </a:rPr>
              <a:t>ip</a:t>
            </a:r>
            <a:r>
              <a:rPr kumimoji="1" lang="en-US" altLang="ja-JP" dirty="0">
                <a:solidFill>
                  <a:sysClr val="windowText" lastClr="000000"/>
                </a:solidFill>
              </a:rPr>
              <a:t> </a:t>
            </a:r>
            <a:r>
              <a:rPr kumimoji="1" lang="en-US" altLang="ja-JP" dirty="0" err="1">
                <a:solidFill>
                  <a:sysClr val="windowText" lastClr="000000"/>
                </a:solidFill>
              </a:rPr>
              <a:t>ospf</a:t>
            </a:r>
            <a:r>
              <a:rPr kumimoji="1" lang="en-US" altLang="ja-JP" dirty="0">
                <a:solidFill>
                  <a:sysClr val="windowText" lastClr="000000"/>
                </a:solidFill>
              </a:rPr>
              <a:t> </a:t>
            </a:r>
            <a:r>
              <a:rPr kumimoji="1" lang="en-US" altLang="ja-JP" dirty="0" err="1">
                <a:solidFill>
                  <a:sysClr val="windowText" lastClr="000000"/>
                </a:solidFill>
              </a:rPr>
              <a:t>nei</a:t>
            </a:r>
            <a:endParaRPr kumimoji="1" lang="en-US" altLang="ja-JP" dirty="0">
              <a:solidFill>
                <a:sysClr val="windowText" lastClr="000000"/>
              </a:solidFill>
            </a:endParaRPr>
          </a:p>
          <a:p>
            <a:r>
              <a:rPr kumimoji="1" lang="en-US" altLang="ja-JP" dirty="0">
                <a:solidFill>
                  <a:sysClr val="windowText" lastClr="000000"/>
                </a:solidFill>
              </a:rPr>
              <a:t>show </a:t>
            </a:r>
            <a:r>
              <a:rPr kumimoji="1" lang="en-US" altLang="ja-JP" dirty="0" err="1">
                <a:solidFill>
                  <a:sysClr val="windowText" lastClr="000000"/>
                </a:solidFill>
              </a:rPr>
              <a:t>ip</a:t>
            </a:r>
            <a:r>
              <a:rPr kumimoji="1" lang="en-US" altLang="ja-JP" dirty="0">
                <a:solidFill>
                  <a:sysClr val="windowText" lastClr="000000"/>
                </a:solidFill>
              </a:rPr>
              <a:t> </a:t>
            </a:r>
            <a:r>
              <a:rPr kumimoji="1" lang="en-US" altLang="ja-JP" dirty="0" err="1">
                <a:solidFill>
                  <a:sysClr val="windowText" lastClr="000000"/>
                </a:solidFill>
              </a:rPr>
              <a:t>bgp</a:t>
            </a:r>
            <a:r>
              <a:rPr kumimoji="1" lang="en-US" altLang="ja-JP" dirty="0">
                <a:solidFill>
                  <a:sysClr val="windowText" lastClr="000000"/>
                </a:solidFill>
              </a:rPr>
              <a:t> summary</a:t>
            </a:r>
            <a:endParaRPr kumimoji="1" lang="ja-JP" altLang="en-US" dirty="0">
              <a:solidFill>
                <a:sysClr val="windowText" lastClr="000000"/>
              </a:solidFill>
            </a:endParaRPr>
          </a:p>
        </p:txBody>
      </p:sp>
    </p:spTree>
    <p:extLst>
      <p:ext uri="{BB962C8B-B14F-4D97-AF65-F5344CB8AC3E}">
        <p14:creationId xmlns:p14="http://schemas.microsoft.com/office/powerpoint/2010/main" val="2181741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3665-693F-1352-7F19-9848F7F78616}"/>
            </a:ext>
          </a:extLst>
        </p:cNvPr>
        <p:cNvGrpSpPr/>
        <p:nvPr/>
      </p:nvGrpSpPr>
      <p:grpSpPr>
        <a:xfrm>
          <a:off x="0" y="0"/>
          <a:ext cx="0" cy="0"/>
          <a:chOff x="0" y="0"/>
          <a:chExt cx="0" cy="0"/>
        </a:xfrm>
      </p:grpSpPr>
      <p:pic>
        <p:nvPicPr>
          <p:cNvPr id="13" name="図 12">
            <a:extLst>
              <a:ext uri="{FF2B5EF4-FFF2-40B4-BE49-F238E27FC236}">
                <a16:creationId xmlns:a16="http://schemas.microsoft.com/office/drawing/2014/main" id="{5BA5BE94-4F3E-4D81-B14C-5370FD339C1B}"/>
              </a:ext>
            </a:extLst>
          </p:cNvPr>
          <p:cNvPicPr>
            <a:picLocks noChangeAspect="1"/>
          </p:cNvPicPr>
          <p:nvPr/>
        </p:nvPicPr>
        <p:blipFill>
          <a:blip r:embed="rId2"/>
          <a:stretch>
            <a:fillRect/>
          </a:stretch>
        </p:blipFill>
        <p:spPr>
          <a:xfrm>
            <a:off x="8081917" y="2041585"/>
            <a:ext cx="3617151" cy="4494684"/>
          </a:xfrm>
          <a:prstGeom prst="rect">
            <a:avLst/>
          </a:prstGeom>
        </p:spPr>
      </p:pic>
      <p:sp>
        <p:nvSpPr>
          <p:cNvPr id="7" name="タイトル 1">
            <a:extLst>
              <a:ext uri="{FF2B5EF4-FFF2-40B4-BE49-F238E27FC236}">
                <a16:creationId xmlns:a16="http://schemas.microsoft.com/office/drawing/2014/main" id="{39549F3F-4E3C-935E-F07B-7EFB670CAB93}"/>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9" name="四角形: 角を丸くする 8">
            <a:extLst>
              <a:ext uri="{FF2B5EF4-FFF2-40B4-BE49-F238E27FC236}">
                <a16:creationId xmlns:a16="http://schemas.microsoft.com/office/drawing/2014/main" id="{13587FE4-0F03-D99E-AAE9-268653ED44D1}"/>
              </a:ext>
            </a:extLst>
          </p:cNvPr>
          <p:cNvSpPr/>
          <p:nvPr/>
        </p:nvSpPr>
        <p:spPr>
          <a:xfrm>
            <a:off x="9696675" y="3919275"/>
            <a:ext cx="1621765" cy="34505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2">
            <a:extLst>
              <a:ext uri="{FF2B5EF4-FFF2-40B4-BE49-F238E27FC236}">
                <a16:creationId xmlns:a16="http://schemas.microsoft.com/office/drawing/2014/main" id="{C9B0FC59-D51A-E130-1494-3520BA7795B7}"/>
              </a:ext>
            </a:extLst>
          </p:cNvPr>
          <p:cNvSpPr>
            <a:spLocks noGrp="1"/>
          </p:cNvSpPr>
          <p:nvPr>
            <p:ph idx="1"/>
          </p:nvPr>
        </p:nvSpPr>
        <p:spPr>
          <a:xfrm>
            <a:off x="388274" y="2173857"/>
            <a:ext cx="7047696" cy="3042249"/>
          </a:xfrm>
        </p:spPr>
        <p:txBody>
          <a:bodyPr anchor="t" anchorCtr="0">
            <a:noAutofit/>
          </a:bodyPr>
          <a:lstStyle/>
          <a:p>
            <a:pPr>
              <a:buFont typeface="+mj-lt"/>
              <a:buAutoNum type="arabicPeriod" startAt="4"/>
            </a:pPr>
            <a:r>
              <a:rPr lang="en-US" altLang="ja-JP" dirty="0"/>
              <a:t>SSH access to test2 fails.</a:t>
            </a:r>
          </a:p>
        </p:txBody>
      </p:sp>
      <p:sp>
        <p:nvSpPr>
          <p:cNvPr id="5" name="テキスト ボックス 4">
            <a:extLst>
              <a:ext uri="{FF2B5EF4-FFF2-40B4-BE49-F238E27FC236}">
                <a16:creationId xmlns:a16="http://schemas.microsoft.com/office/drawing/2014/main" id="{725F41E8-59B2-4E83-6678-E0F88A180FE1}"/>
              </a:ext>
            </a:extLst>
          </p:cNvPr>
          <p:cNvSpPr txBox="1"/>
          <p:nvPr/>
        </p:nvSpPr>
        <p:spPr>
          <a:xfrm>
            <a:off x="805132" y="2746075"/>
            <a:ext cx="6837872" cy="2246769"/>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[ssh] Target: 10.0.0.2</a:t>
            </a:r>
          </a:p>
          <a:p>
            <a:pPr fontAlgn="base" latinLnBrk="1"/>
            <a:r>
              <a:rPr lang="ja-JP" altLang="ja-JP" sz="1400" dirty="0">
                <a:solidFill>
                  <a:schemeClr val="bg1"/>
                </a:solidFill>
              </a:rPr>
              <a:t>[ssh] Commands: ['show ip int brief', 'show ip ospf nei', 'show ip bgp summary']</a:t>
            </a:r>
          </a:p>
          <a:p>
            <a:pPr fontAlgn="base" latinLnBrk="1"/>
            <a:r>
              <a:rPr lang="ja-JP" altLang="ja-JP" sz="1400" dirty="0">
                <a:solidFill>
                  <a:schemeClr val="bg1"/>
                </a:solidFill>
              </a:rPr>
              <a:t>[ssh] SSH connection failed: TCP connection to device failed.</a:t>
            </a:r>
          </a:p>
          <a:p>
            <a:pPr fontAlgn="base" latinLnBrk="1"/>
            <a:endParaRPr lang="ja-JP" altLang="ja-JP" sz="1400" dirty="0">
              <a:solidFill>
                <a:schemeClr val="bg1"/>
              </a:solidFill>
            </a:endParaRPr>
          </a:p>
          <a:p>
            <a:pPr fontAlgn="base" latinLnBrk="1"/>
            <a:r>
              <a:rPr lang="ja-JP" altLang="ja-JP" sz="1400" dirty="0">
                <a:solidFill>
                  <a:schemeClr val="bg1"/>
                </a:solidFill>
              </a:rPr>
              <a:t>Common causes of this problem are:</a:t>
            </a:r>
          </a:p>
          <a:p>
            <a:pPr fontAlgn="base" latinLnBrk="1"/>
            <a:r>
              <a:rPr lang="ja-JP" altLang="ja-JP" sz="1400" dirty="0">
                <a:solidFill>
                  <a:schemeClr val="bg1"/>
                </a:solidFill>
              </a:rPr>
              <a:t>1. Incorrect hostname or IP address.</a:t>
            </a:r>
          </a:p>
          <a:p>
            <a:pPr fontAlgn="base" latinLnBrk="1"/>
            <a:r>
              <a:rPr lang="ja-JP" altLang="ja-JP" sz="1400" dirty="0">
                <a:solidFill>
                  <a:schemeClr val="bg1"/>
                </a:solidFill>
              </a:rPr>
              <a:t>2. Wrong TCP port.</a:t>
            </a:r>
          </a:p>
          <a:p>
            <a:pPr fontAlgn="base" latinLnBrk="1"/>
            <a:r>
              <a:rPr lang="ja-JP" altLang="ja-JP" sz="1400" dirty="0">
                <a:solidFill>
                  <a:schemeClr val="bg1"/>
                </a:solidFill>
              </a:rPr>
              <a:t>3. Intermediate firewall blocking access.</a:t>
            </a:r>
          </a:p>
          <a:p>
            <a:pPr fontAlgn="base" latinLnBrk="1"/>
            <a:endParaRPr lang="ja-JP" altLang="ja-JP" sz="1400" dirty="0">
              <a:solidFill>
                <a:schemeClr val="bg1"/>
              </a:solidFill>
            </a:endParaRPr>
          </a:p>
          <a:p>
            <a:pPr fontAlgn="base" latinLnBrk="1"/>
            <a:r>
              <a:rPr lang="ja-JP" altLang="ja-JP" sz="1400" dirty="0">
                <a:solidFill>
                  <a:schemeClr val="bg1"/>
                </a:solidFill>
              </a:rPr>
              <a:t>Device settings: cisco_ios 10.0.0.2:22</a:t>
            </a:r>
          </a:p>
        </p:txBody>
      </p:sp>
      <p:sp>
        <p:nvSpPr>
          <p:cNvPr id="3" name="正方形/長方形 2">
            <a:extLst>
              <a:ext uri="{FF2B5EF4-FFF2-40B4-BE49-F238E27FC236}">
                <a16:creationId xmlns:a16="http://schemas.microsoft.com/office/drawing/2014/main" id="{AF072A3F-B978-C863-7909-C8F7418A40F4}"/>
              </a:ext>
            </a:extLst>
          </p:cNvPr>
          <p:cNvSpPr/>
          <p:nvPr/>
        </p:nvSpPr>
        <p:spPr>
          <a:xfrm>
            <a:off x="873560" y="5535253"/>
            <a:ext cx="2058838" cy="874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AI agent</a:t>
            </a:r>
            <a:endParaRPr kumimoji="1" lang="ja-JP" altLang="en-US" dirty="0"/>
          </a:p>
        </p:txBody>
      </p:sp>
      <p:cxnSp>
        <p:nvCxnSpPr>
          <p:cNvPr id="4" name="直線矢印コネクタ 3">
            <a:extLst>
              <a:ext uri="{FF2B5EF4-FFF2-40B4-BE49-F238E27FC236}">
                <a16:creationId xmlns:a16="http://schemas.microsoft.com/office/drawing/2014/main" id="{1D7611E0-C3B7-2383-1D64-AA28528E11EE}"/>
              </a:ext>
            </a:extLst>
          </p:cNvPr>
          <p:cNvCxnSpPr>
            <a:cxnSpLocks/>
          </p:cNvCxnSpPr>
          <p:nvPr/>
        </p:nvCxnSpPr>
        <p:spPr>
          <a:xfrm>
            <a:off x="3229637" y="5952227"/>
            <a:ext cx="1685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四角形: 角を丸くする 5">
            <a:extLst>
              <a:ext uri="{FF2B5EF4-FFF2-40B4-BE49-F238E27FC236}">
                <a16:creationId xmlns:a16="http://schemas.microsoft.com/office/drawing/2014/main" id="{FD2BC2ED-7B46-88C3-44C3-A5A45D6F53C5}"/>
              </a:ext>
            </a:extLst>
          </p:cNvPr>
          <p:cNvSpPr/>
          <p:nvPr/>
        </p:nvSpPr>
        <p:spPr>
          <a:xfrm>
            <a:off x="5184474" y="5515157"/>
            <a:ext cx="1817298" cy="874139"/>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router</a:t>
            </a:r>
          </a:p>
          <a:p>
            <a:pPr algn="ctr"/>
            <a:r>
              <a:rPr kumimoji="1" lang="en-US" altLang="ja-JP" dirty="0"/>
              <a:t>test2</a:t>
            </a:r>
            <a:endParaRPr kumimoji="1" lang="ja-JP" altLang="en-US" dirty="0"/>
          </a:p>
        </p:txBody>
      </p:sp>
      <p:sp>
        <p:nvSpPr>
          <p:cNvPr id="11" name="テキスト ボックス 10">
            <a:extLst>
              <a:ext uri="{FF2B5EF4-FFF2-40B4-BE49-F238E27FC236}">
                <a16:creationId xmlns:a16="http://schemas.microsoft.com/office/drawing/2014/main" id="{C5DD71B7-0DB9-EC6D-3E23-CC2DFDF8DA6B}"/>
              </a:ext>
            </a:extLst>
          </p:cNvPr>
          <p:cNvSpPr txBox="1"/>
          <p:nvPr/>
        </p:nvSpPr>
        <p:spPr>
          <a:xfrm>
            <a:off x="3521709" y="5535253"/>
            <a:ext cx="1028514" cy="369332"/>
          </a:xfrm>
          <a:prstGeom prst="rect">
            <a:avLst/>
          </a:prstGeom>
          <a:noFill/>
        </p:spPr>
        <p:txBody>
          <a:bodyPr wrap="square" rtlCol="0">
            <a:spAutoFit/>
          </a:bodyPr>
          <a:lstStyle/>
          <a:p>
            <a:pPr algn="ctr"/>
            <a:r>
              <a:rPr kumimoji="1" lang="en-US" altLang="ja-JP" dirty="0"/>
              <a:t>SSH</a:t>
            </a:r>
            <a:endParaRPr kumimoji="1" lang="ja-JP" altLang="en-US" dirty="0"/>
          </a:p>
        </p:txBody>
      </p:sp>
      <p:sp>
        <p:nvSpPr>
          <p:cNvPr id="12" name="爆発: 14 pt 11">
            <a:extLst>
              <a:ext uri="{FF2B5EF4-FFF2-40B4-BE49-F238E27FC236}">
                <a16:creationId xmlns:a16="http://schemas.microsoft.com/office/drawing/2014/main" id="{61346B42-941E-7391-9B79-346CFAE37EE3}"/>
              </a:ext>
            </a:extLst>
          </p:cNvPr>
          <p:cNvSpPr/>
          <p:nvPr/>
        </p:nvSpPr>
        <p:spPr>
          <a:xfrm>
            <a:off x="4352618" y="5581233"/>
            <a:ext cx="822385" cy="741988"/>
          </a:xfrm>
          <a:prstGeom prst="irregularSeal2">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FE1A7F12-4C41-CF88-2C4C-36CCAD2599CE}"/>
              </a:ext>
            </a:extLst>
          </p:cNvPr>
          <p:cNvSpPr/>
          <p:nvPr/>
        </p:nvSpPr>
        <p:spPr>
          <a:xfrm>
            <a:off x="2179609" y="5226001"/>
            <a:ext cx="1370856" cy="52322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IP</a:t>
            </a:r>
            <a:r>
              <a:rPr kumimoji="1" lang="ja-JP" altLang="en-US" dirty="0">
                <a:solidFill>
                  <a:sysClr val="windowText" lastClr="000000"/>
                </a:solidFill>
              </a:rPr>
              <a:t> </a:t>
            </a:r>
            <a:r>
              <a:rPr kumimoji="1" lang="en-US" altLang="ja-JP" dirty="0">
                <a:solidFill>
                  <a:sysClr val="windowText" lastClr="000000"/>
                </a:solidFill>
              </a:rPr>
              <a:t>address</a:t>
            </a:r>
            <a:endParaRPr kumimoji="1" lang="ja-JP" altLang="en-US" dirty="0">
              <a:solidFill>
                <a:sysClr val="windowText" lastClr="000000"/>
              </a:solidFill>
            </a:endParaRPr>
          </a:p>
        </p:txBody>
      </p:sp>
    </p:spTree>
    <p:extLst>
      <p:ext uri="{BB962C8B-B14F-4D97-AF65-F5344CB8AC3E}">
        <p14:creationId xmlns:p14="http://schemas.microsoft.com/office/powerpoint/2010/main" val="185606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86CC-264D-E264-BE72-C4EC9D83F264}"/>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6D29E695-A57B-05C5-F784-2F529D3E9384}"/>
              </a:ext>
            </a:extLst>
          </p:cNvPr>
          <p:cNvPicPr>
            <a:picLocks noChangeAspect="1"/>
          </p:cNvPicPr>
          <p:nvPr/>
        </p:nvPicPr>
        <p:blipFill>
          <a:blip r:embed="rId2"/>
          <a:stretch>
            <a:fillRect/>
          </a:stretch>
        </p:blipFill>
        <p:spPr>
          <a:xfrm>
            <a:off x="8081917" y="2041585"/>
            <a:ext cx="3617151" cy="4494684"/>
          </a:xfrm>
          <a:prstGeom prst="rect">
            <a:avLst/>
          </a:prstGeom>
        </p:spPr>
      </p:pic>
      <p:sp>
        <p:nvSpPr>
          <p:cNvPr id="7" name="タイトル 1">
            <a:extLst>
              <a:ext uri="{FF2B5EF4-FFF2-40B4-BE49-F238E27FC236}">
                <a16:creationId xmlns:a16="http://schemas.microsoft.com/office/drawing/2014/main" id="{5EBAEDA1-D905-FFDA-1D57-D00EF8AAD6E3}"/>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9" name="四角形: 角を丸くする 8">
            <a:extLst>
              <a:ext uri="{FF2B5EF4-FFF2-40B4-BE49-F238E27FC236}">
                <a16:creationId xmlns:a16="http://schemas.microsoft.com/office/drawing/2014/main" id="{F2401030-27EF-C80D-E20D-802DA2215E42}"/>
              </a:ext>
            </a:extLst>
          </p:cNvPr>
          <p:cNvSpPr/>
          <p:nvPr/>
        </p:nvSpPr>
        <p:spPr>
          <a:xfrm>
            <a:off x="9409128" y="4531743"/>
            <a:ext cx="2248034" cy="511834"/>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2">
            <a:extLst>
              <a:ext uri="{FF2B5EF4-FFF2-40B4-BE49-F238E27FC236}">
                <a16:creationId xmlns:a16="http://schemas.microsoft.com/office/drawing/2014/main" id="{42F58E1F-F7E7-6CA0-45A7-FFC29C4323C3}"/>
              </a:ext>
            </a:extLst>
          </p:cNvPr>
          <p:cNvSpPr>
            <a:spLocks noGrp="1"/>
          </p:cNvSpPr>
          <p:nvPr>
            <p:ph idx="1"/>
          </p:nvPr>
        </p:nvSpPr>
        <p:spPr>
          <a:xfrm>
            <a:off x="388273" y="2173857"/>
            <a:ext cx="7289235" cy="3042249"/>
          </a:xfrm>
        </p:spPr>
        <p:txBody>
          <a:bodyPr anchor="t" anchorCtr="0">
            <a:noAutofit/>
          </a:bodyPr>
          <a:lstStyle/>
          <a:p>
            <a:pPr>
              <a:buFont typeface="+mj-lt"/>
              <a:buAutoNum type="arabicPeriod" startAt="5"/>
            </a:pPr>
            <a:r>
              <a:rPr lang="en-US" altLang="ja-JP" dirty="0"/>
              <a:t>Based on the user's inquiry and the results from the “</a:t>
            </a:r>
            <a:r>
              <a:rPr lang="en-US" altLang="ja-JP" dirty="0" err="1"/>
              <a:t>get_zabbix_problems</a:t>
            </a:r>
            <a:r>
              <a:rPr lang="en-US" altLang="ja-JP" dirty="0"/>
              <a:t>” and “</a:t>
            </a:r>
            <a:r>
              <a:rPr lang="en-US" altLang="ja-JP" dirty="0" err="1"/>
              <a:t>get_cisco_cli</a:t>
            </a:r>
            <a:r>
              <a:rPr lang="en-US" altLang="ja-JP" dirty="0"/>
              <a:t>” tools, the LLM determines that additional investigation is not required.</a:t>
            </a:r>
          </a:p>
        </p:txBody>
      </p:sp>
      <p:sp>
        <p:nvSpPr>
          <p:cNvPr id="5" name="テキスト ボックス 4">
            <a:extLst>
              <a:ext uri="{FF2B5EF4-FFF2-40B4-BE49-F238E27FC236}">
                <a16:creationId xmlns:a16="http://schemas.microsoft.com/office/drawing/2014/main" id="{BB2A5700-25E2-0997-E197-EADF99663EA0}"/>
              </a:ext>
            </a:extLst>
          </p:cNvPr>
          <p:cNvSpPr txBox="1"/>
          <p:nvPr/>
        </p:nvSpPr>
        <p:spPr>
          <a:xfrm>
            <a:off x="805132" y="3216540"/>
            <a:ext cx="6630838" cy="523220"/>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[check] Asking the AI whether additional investigation is needed</a:t>
            </a:r>
          </a:p>
          <a:p>
            <a:pPr fontAlgn="base" latinLnBrk="1"/>
            <a:r>
              <a:rPr lang="ja-JP" altLang="ja-JP" sz="1400" dirty="0">
                <a:solidFill>
                  <a:schemeClr val="bg1"/>
                </a:solidFill>
              </a:rPr>
              <a:t>[check] AI decision: No</a:t>
            </a:r>
          </a:p>
        </p:txBody>
      </p:sp>
      <p:cxnSp>
        <p:nvCxnSpPr>
          <p:cNvPr id="18" name="直線矢印コネクタ 17">
            <a:extLst>
              <a:ext uri="{FF2B5EF4-FFF2-40B4-BE49-F238E27FC236}">
                <a16:creationId xmlns:a16="http://schemas.microsoft.com/office/drawing/2014/main" id="{592F158A-8F62-4EC1-465C-F1FEF4B11027}"/>
              </a:ext>
            </a:extLst>
          </p:cNvPr>
          <p:cNvCxnSpPr>
            <a:cxnSpLocks/>
          </p:cNvCxnSpPr>
          <p:nvPr/>
        </p:nvCxnSpPr>
        <p:spPr>
          <a:xfrm flipH="1">
            <a:off x="1852320" y="5566383"/>
            <a:ext cx="8678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8FE4B6E2-BDAA-45E3-8732-3129C12CCFDA}"/>
              </a:ext>
            </a:extLst>
          </p:cNvPr>
          <p:cNvSpPr/>
          <p:nvPr/>
        </p:nvSpPr>
        <p:spPr>
          <a:xfrm>
            <a:off x="2331094" y="4076843"/>
            <a:ext cx="2058838" cy="874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AI agent</a:t>
            </a:r>
            <a:endParaRPr kumimoji="1" lang="ja-JP" altLang="en-US" dirty="0"/>
          </a:p>
        </p:txBody>
      </p:sp>
      <p:sp>
        <p:nvSpPr>
          <p:cNvPr id="21" name="四角形: 角を丸くする 20">
            <a:extLst>
              <a:ext uri="{FF2B5EF4-FFF2-40B4-BE49-F238E27FC236}">
                <a16:creationId xmlns:a16="http://schemas.microsoft.com/office/drawing/2014/main" id="{4A2BA5EE-3991-D96C-FDF6-A7DF4746F85A}"/>
              </a:ext>
            </a:extLst>
          </p:cNvPr>
          <p:cNvSpPr/>
          <p:nvPr/>
        </p:nvSpPr>
        <p:spPr>
          <a:xfrm>
            <a:off x="3233687" y="4856758"/>
            <a:ext cx="2199034" cy="92869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User’s</a:t>
            </a:r>
            <a:r>
              <a:rPr kumimoji="1" lang="ja-JP" altLang="en-US" dirty="0">
                <a:solidFill>
                  <a:sysClr val="windowText" lastClr="000000"/>
                </a:solidFill>
              </a:rPr>
              <a:t> </a:t>
            </a:r>
            <a:r>
              <a:rPr kumimoji="1" lang="en-US" altLang="ja-JP" dirty="0">
                <a:solidFill>
                  <a:sysClr val="windowText" lastClr="000000"/>
                </a:solidFill>
              </a:rPr>
              <a:t>inquiry</a:t>
            </a:r>
          </a:p>
          <a:p>
            <a:pPr algn="ctr"/>
            <a:r>
              <a:rPr kumimoji="1" lang="en-US" altLang="ja-JP" dirty="0">
                <a:solidFill>
                  <a:sysClr val="windowText" lastClr="000000"/>
                </a:solidFill>
              </a:rPr>
              <a:t>problem</a:t>
            </a:r>
          </a:p>
          <a:p>
            <a:pPr algn="ctr"/>
            <a:r>
              <a:rPr kumimoji="1" lang="en-US" altLang="ja-JP" dirty="0">
                <a:solidFill>
                  <a:sysClr val="windowText" lastClr="000000"/>
                </a:solidFill>
              </a:rPr>
              <a:t>IP address</a:t>
            </a:r>
          </a:p>
        </p:txBody>
      </p:sp>
      <p:sp>
        <p:nvSpPr>
          <p:cNvPr id="22" name="正方形/長方形 21">
            <a:extLst>
              <a:ext uri="{FF2B5EF4-FFF2-40B4-BE49-F238E27FC236}">
                <a16:creationId xmlns:a16="http://schemas.microsoft.com/office/drawing/2014/main" id="{3CF40865-48AE-ECF6-C54C-B89895D3ACB1}"/>
              </a:ext>
            </a:extLst>
          </p:cNvPr>
          <p:cNvSpPr/>
          <p:nvPr/>
        </p:nvSpPr>
        <p:spPr>
          <a:xfrm>
            <a:off x="6332752" y="4136439"/>
            <a:ext cx="1633057" cy="874144"/>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LLM</a:t>
            </a:r>
            <a:endParaRPr kumimoji="1" lang="ja-JP" altLang="en-US" dirty="0"/>
          </a:p>
        </p:txBody>
      </p:sp>
      <p:cxnSp>
        <p:nvCxnSpPr>
          <p:cNvPr id="23" name="直線矢印コネクタ 22">
            <a:extLst>
              <a:ext uri="{FF2B5EF4-FFF2-40B4-BE49-F238E27FC236}">
                <a16:creationId xmlns:a16="http://schemas.microsoft.com/office/drawing/2014/main" id="{822FE7F6-C896-E25A-012B-AF6A53589627}"/>
              </a:ext>
            </a:extLst>
          </p:cNvPr>
          <p:cNvCxnSpPr>
            <a:cxnSpLocks/>
          </p:cNvCxnSpPr>
          <p:nvPr/>
        </p:nvCxnSpPr>
        <p:spPr>
          <a:xfrm>
            <a:off x="4544479" y="4559133"/>
            <a:ext cx="1685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5B5F3A4E-D7B0-4DBE-EF3B-61DF4967B45A}"/>
              </a:ext>
            </a:extLst>
          </p:cNvPr>
          <p:cNvSpPr txBox="1"/>
          <p:nvPr/>
        </p:nvSpPr>
        <p:spPr>
          <a:xfrm>
            <a:off x="4635937" y="4076843"/>
            <a:ext cx="1593568" cy="369332"/>
          </a:xfrm>
          <a:prstGeom prst="rect">
            <a:avLst/>
          </a:prstGeom>
          <a:noFill/>
        </p:spPr>
        <p:txBody>
          <a:bodyPr wrap="square" rtlCol="0">
            <a:spAutoFit/>
          </a:bodyPr>
          <a:lstStyle/>
          <a:p>
            <a:pPr algn="ctr"/>
            <a:r>
              <a:rPr kumimoji="1" lang="en-US" altLang="ja-JP" dirty="0"/>
              <a:t>Gemini API</a:t>
            </a:r>
            <a:endParaRPr kumimoji="1" lang="ja-JP" altLang="en-US" dirty="0"/>
          </a:p>
        </p:txBody>
      </p:sp>
      <p:cxnSp>
        <p:nvCxnSpPr>
          <p:cNvPr id="25" name="直線コネクタ 24">
            <a:extLst>
              <a:ext uri="{FF2B5EF4-FFF2-40B4-BE49-F238E27FC236}">
                <a16:creationId xmlns:a16="http://schemas.microsoft.com/office/drawing/2014/main" id="{C0E4B266-4722-46CF-C56C-78C1256690FF}"/>
              </a:ext>
            </a:extLst>
          </p:cNvPr>
          <p:cNvCxnSpPr/>
          <p:nvPr/>
        </p:nvCxnSpPr>
        <p:spPr>
          <a:xfrm>
            <a:off x="2708694" y="5109183"/>
            <a:ext cx="0" cy="446231"/>
          </a:xfrm>
          <a:prstGeom prst="line">
            <a:avLst/>
          </a:prstGeom>
        </p:spPr>
        <p:style>
          <a:lnRef idx="1">
            <a:schemeClr val="accent1"/>
          </a:lnRef>
          <a:fillRef idx="0">
            <a:schemeClr val="accent1"/>
          </a:fillRef>
          <a:effectRef idx="0">
            <a:schemeClr val="accent1"/>
          </a:effectRef>
          <a:fontRef idx="minor">
            <a:schemeClr val="tx1"/>
          </a:fontRef>
        </p:style>
      </p:cxnSp>
      <p:sp>
        <p:nvSpPr>
          <p:cNvPr id="28" name="正方形/長方形 27">
            <a:extLst>
              <a:ext uri="{FF2B5EF4-FFF2-40B4-BE49-F238E27FC236}">
                <a16:creationId xmlns:a16="http://schemas.microsoft.com/office/drawing/2014/main" id="{344EAA5C-F0DD-EFA1-98F2-11D2D95A61E5}"/>
              </a:ext>
            </a:extLst>
          </p:cNvPr>
          <p:cNvSpPr/>
          <p:nvPr/>
        </p:nvSpPr>
        <p:spPr>
          <a:xfrm>
            <a:off x="118916" y="5172949"/>
            <a:ext cx="1591716" cy="9286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If necessary,</a:t>
            </a:r>
          </a:p>
          <a:p>
            <a:pPr algn="ctr"/>
            <a:r>
              <a:rPr kumimoji="1" lang="en-US" altLang="ja-JP" dirty="0"/>
              <a:t>additional</a:t>
            </a:r>
          </a:p>
          <a:p>
            <a:pPr algn="ctr"/>
            <a:r>
              <a:rPr kumimoji="1" lang="en-US" altLang="ja-JP" dirty="0"/>
              <a:t>investigation</a:t>
            </a:r>
            <a:endParaRPr kumimoji="1" lang="ja-JP" altLang="en-US" dirty="0"/>
          </a:p>
        </p:txBody>
      </p:sp>
    </p:spTree>
    <p:extLst>
      <p:ext uri="{BB962C8B-B14F-4D97-AF65-F5344CB8AC3E}">
        <p14:creationId xmlns:p14="http://schemas.microsoft.com/office/powerpoint/2010/main" val="81113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77F4-CE52-698E-4414-3989929D96B9}"/>
            </a:ext>
          </a:extLst>
        </p:cNvPr>
        <p:cNvGrpSpPr/>
        <p:nvPr/>
      </p:nvGrpSpPr>
      <p:grpSpPr>
        <a:xfrm>
          <a:off x="0" y="0"/>
          <a:ext cx="0" cy="0"/>
          <a:chOff x="0" y="0"/>
          <a:chExt cx="0" cy="0"/>
        </a:xfrm>
      </p:grpSpPr>
      <p:pic>
        <p:nvPicPr>
          <p:cNvPr id="11" name="図 10">
            <a:extLst>
              <a:ext uri="{FF2B5EF4-FFF2-40B4-BE49-F238E27FC236}">
                <a16:creationId xmlns:a16="http://schemas.microsoft.com/office/drawing/2014/main" id="{4EF463A3-B943-DEEC-74FA-AA0997EF8FB0}"/>
              </a:ext>
            </a:extLst>
          </p:cNvPr>
          <p:cNvPicPr>
            <a:picLocks noChangeAspect="1"/>
          </p:cNvPicPr>
          <p:nvPr/>
        </p:nvPicPr>
        <p:blipFill>
          <a:blip r:embed="rId2"/>
          <a:stretch>
            <a:fillRect/>
          </a:stretch>
        </p:blipFill>
        <p:spPr>
          <a:xfrm>
            <a:off x="8093419" y="2081842"/>
            <a:ext cx="3617151" cy="4494684"/>
          </a:xfrm>
          <a:prstGeom prst="rect">
            <a:avLst/>
          </a:prstGeom>
        </p:spPr>
      </p:pic>
      <p:sp>
        <p:nvSpPr>
          <p:cNvPr id="7" name="タイトル 1">
            <a:extLst>
              <a:ext uri="{FF2B5EF4-FFF2-40B4-BE49-F238E27FC236}">
                <a16:creationId xmlns:a16="http://schemas.microsoft.com/office/drawing/2014/main" id="{9989189A-1822-B090-3F04-A92F8F94424A}"/>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2" name="コンテンツ プレースホルダー 2">
            <a:extLst>
              <a:ext uri="{FF2B5EF4-FFF2-40B4-BE49-F238E27FC236}">
                <a16:creationId xmlns:a16="http://schemas.microsoft.com/office/drawing/2014/main" id="{3292717B-FFE7-E2F4-6193-7AD9F2AE8BBA}"/>
              </a:ext>
            </a:extLst>
          </p:cNvPr>
          <p:cNvSpPr>
            <a:spLocks noGrp="1"/>
          </p:cNvSpPr>
          <p:nvPr>
            <p:ph idx="1"/>
          </p:nvPr>
        </p:nvSpPr>
        <p:spPr>
          <a:xfrm>
            <a:off x="388274" y="2173857"/>
            <a:ext cx="7502020" cy="3042249"/>
          </a:xfrm>
        </p:spPr>
        <p:txBody>
          <a:bodyPr anchor="t" anchorCtr="0">
            <a:noAutofit/>
          </a:bodyPr>
          <a:lstStyle/>
          <a:p>
            <a:pPr>
              <a:buFont typeface="+mj-lt"/>
              <a:buAutoNum type="arabicPeriod" startAt="6"/>
            </a:pPr>
            <a:r>
              <a:rPr lang="en-US" altLang="ja-JP" dirty="0"/>
              <a:t>Based on the user's inquiry and the results from the “</a:t>
            </a:r>
            <a:r>
              <a:rPr lang="en-US" altLang="ja-JP" dirty="0" err="1"/>
              <a:t>get_zabbix_problems</a:t>
            </a:r>
            <a:r>
              <a:rPr lang="en-US" altLang="ja-JP" dirty="0"/>
              <a:t>” and “</a:t>
            </a:r>
            <a:r>
              <a:rPr lang="en-US" altLang="ja-JP" dirty="0" err="1"/>
              <a:t>get_cisco_cli</a:t>
            </a:r>
            <a:r>
              <a:rPr lang="en-US" altLang="ja-JP" dirty="0"/>
              <a:t> tools”, the LLM generates a response and provides the diagnostic results to the user.</a:t>
            </a:r>
          </a:p>
        </p:txBody>
      </p:sp>
      <p:sp>
        <p:nvSpPr>
          <p:cNvPr id="5" name="テキスト ボックス 4">
            <a:extLst>
              <a:ext uri="{FF2B5EF4-FFF2-40B4-BE49-F238E27FC236}">
                <a16:creationId xmlns:a16="http://schemas.microsoft.com/office/drawing/2014/main" id="{2C003956-F7B5-FA1D-01A0-EE63110FE194}"/>
              </a:ext>
            </a:extLst>
          </p:cNvPr>
          <p:cNvSpPr txBox="1"/>
          <p:nvPr/>
        </p:nvSpPr>
        <p:spPr>
          <a:xfrm>
            <a:off x="805132" y="3353610"/>
            <a:ext cx="6630838" cy="307777"/>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[answer] Generating the final response</a:t>
            </a:r>
          </a:p>
        </p:txBody>
      </p:sp>
      <p:sp>
        <p:nvSpPr>
          <p:cNvPr id="4" name="四角形: 角を丸くする 3">
            <a:extLst>
              <a:ext uri="{FF2B5EF4-FFF2-40B4-BE49-F238E27FC236}">
                <a16:creationId xmlns:a16="http://schemas.microsoft.com/office/drawing/2014/main" id="{6F5B191B-5B46-DD8C-3F6F-E2152D15F945}"/>
              </a:ext>
            </a:extLst>
          </p:cNvPr>
          <p:cNvSpPr/>
          <p:nvPr/>
        </p:nvSpPr>
        <p:spPr>
          <a:xfrm>
            <a:off x="8684509" y="5204604"/>
            <a:ext cx="1621765" cy="34505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グラフィックス 5" descr="男性のプロフィール 単色塗りつぶし">
            <a:extLst>
              <a:ext uri="{FF2B5EF4-FFF2-40B4-BE49-F238E27FC236}">
                <a16:creationId xmlns:a16="http://schemas.microsoft.com/office/drawing/2014/main" id="{C5ABEF52-0C50-477F-3453-BC5A7D7484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14" y="4873392"/>
            <a:ext cx="914400" cy="914400"/>
          </a:xfrm>
          <a:prstGeom prst="rect">
            <a:avLst/>
          </a:prstGeom>
        </p:spPr>
      </p:pic>
      <p:cxnSp>
        <p:nvCxnSpPr>
          <p:cNvPr id="9" name="直線矢印コネクタ 8">
            <a:extLst>
              <a:ext uri="{FF2B5EF4-FFF2-40B4-BE49-F238E27FC236}">
                <a16:creationId xmlns:a16="http://schemas.microsoft.com/office/drawing/2014/main" id="{B2DD495E-4E82-E056-C030-562C6E444FC0}"/>
              </a:ext>
            </a:extLst>
          </p:cNvPr>
          <p:cNvCxnSpPr>
            <a:cxnSpLocks/>
          </p:cNvCxnSpPr>
          <p:nvPr/>
        </p:nvCxnSpPr>
        <p:spPr>
          <a:xfrm flipH="1">
            <a:off x="805132" y="5330592"/>
            <a:ext cx="1915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4B3EB340-D49B-D76C-893B-6A93CF2F1773}"/>
              </a:ext>
            </a:extLst>
          </p:cNvPr>
          <p:cNvSpPr txBox="1"/>
          <p:nvPr/>
        </p:nvSpPr>
        <p:spPr>
          <a:xfrm>
            <a:off x="850196" y="4891449"/>
            <a:ext cx="1099373" cy="369332"/>
          </a:xfrm>
          <a:prstGeom prst="rect">
            <a:avLst/>
          </a:prstGeom>
          <a:noFill/>
        </p:spPr>
        <p:txBody>
          <a:bodyPr wrap="square" rtlCol="0">
            <a:spAutoFit/>
          </a:bodyPr>
          <a:lstStyle/>
          <a:p>
            <a:pPr algn="ctr"/>
            <a:r>
              <a:rPr kumimoji="1" lang="en-US" altLang="ja-JP" dirty="0"/>
              <a:t>answer</a:t>
            </a:r>
            <a:endParaRPr kumimoji="1" lang="ja-JP" altLang="en-US" dirty="0"/>
          </a:p>
        </p:txBody>
      </p:sp>
      <p:sp>
        <p:nvSpPr>
          <p:cNvPr id="13" name="正方形/長方形 12">
            <a:extLst>
              <a:ext uri="{FF2B5EF4-FFF2-40B4-BE49-F238E27FC236}">
                <a16:creationId xmlns:a16="http://schemas.microsoft.com/office/drawing/2014/main" id="{23AF5F1E-2599-4341-1E6B-4BC005D804B2}"/>
              </a:ext>
            </a:extLst>
          </p:cNvPr>
          <p:cNvSpPr/>
          <p:nvPr/>
        </p:nvSpPr>
        <p:spPr>
          <a:xfrm>
            <a:off x="2331094" y="3841052"/>
            <a:ext cx="2058838" cy="874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AI agent</a:t>
            </a:r>
            <a:endParaRPr kumimoji="1" lang="ja-JP" altLang="en-US" dirty="0"/>
          </a:p>
        </p:txBody>
      </p:sp>
      <p:sp>
        <p:nvSpPr>
          <p:cNvPr id="14" name="四角形: 角を丸くする 13">
            <a:extLst>
              <a:ext uri="{FF2B5EF4-FFF2-40B4-BE49-F238E27FC236}">
                <a16:creationId xmlns:a16="http://schemas.microsoft.com/office/drawing/2014/main" id="{B101429D-B40C-CCCA-1F1D-0CD6DC4A4267}"/>
              </a:ext>
            </a:extLst>
          </p:cNvPr>
          <p:cNvSpPr/>
          <p:nvPr/>
        </p:nvSpPr>
        <p:spPr>
          <a:xfrm>
            <a:off x="3233687" y="4620967"/>
            <a:ext cx="2199034" cy="92869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User’s</a:t>
            </a:r>
            <a:r>
              <a:rPr kumimoji="1" lang="ja-JP" altLang="en-US" dirty="0">
                <a:solidFill>
                  <a:sysClr val="windowText" lastClr="000000"/>
                </a:solidFill>
              </a:rPr>
              <a:t> </a:t>
            </a:r>
            <a:r>
              <a:rPr kumimoji="1" lang="en-US" altLang="ja-JP" dirty="0">
                <a:solidFill>
                  <a:sysClr val="windowText" lastClr="000000"/>
                </a:solidFill>
              </a:rPr>
              <a:t>inquiry</a:t>
            </a:r>
          </a:p>
          <a:p>
            <a:pPr algn="ctr"/>
            <a:r>
              <a:rPr kumimoji="1" lang="en-US" altLang="ja-JP" dirty="0">
                <a:solidFill>
                  <a:sysClr val="windowText" lastClr="000000"/>
                </a:solidFill>
              </a:rPr>
              <a:t>problem</a:t>
            </a:r>
          </a:p>
          <a:p>
            <a:pPr algn="ctr"/>
            <a:r>
              <a:rPr kumimoji="1" lang="en-US" altLang="ja-JP" dirty="0">
                <a:solidFill>
                  <a:sysClr val="windowText" lastClr="000000"/>
                </a:solidFill>
              </a:rPr>
              <a:t>IP address</a:t>
            </a:r>
          </a:p>
        </p:txBody>
      </p:sp>
      <p:sp>
        <p:nvSpPr>
          <p:cNvPr id="15" name="正方形/長方形 14">
            <a:extLst>
              <a:ext uri="{FF2B5EF4-FFF2-40B4-BE49-F238E27FC236}">
                <a16:creationId xmlns:a16="http://schemas.microsoft.com/office/drawing/2014/main" id="{BDE67C9C-BF4B-A96C-1F83-D6AFF59D2DA0}"/>
              </a:ext>
            </a:extLst>
          </p:cNvPr>
          <p:cNvSpPr/>
          <p:nvPr/>
        </p:nvSpPr>
        <p:spPr>
          <a:xfrm>
            <a:off x="6332752" y="3900648"/>
            <a:ext cx="1633057" cy="874144"/>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LLM</a:t>
            </a:r>
            <a:endParaRPr kumimoji="1" lang="ja-JP" altLang="en-US" dirty="0"/>
          </a:p>
        </p:txBody>
      </p:sp>
      <p:cxnSp>
        <p:nvCxnSpPr>
          <p:cNvPr id="16" name="直線矢印コネクタ 15">
            <a:extLst>
              <a:ext uri="{FF2B5EF4-FFF2-40B4-BE49-F238E27FC236}">
                <a16:creationId xmlns:a16="http://schemas.microsoft.com/office/drawing/2014/main" id="{B584BB12-693E-A1E5-8EAE-E1C3C8D85CAB}"/>
              </a:ext>
            </a:extLst>
          </p:cNvPr>
          <p:cNvCxnSpPr>
            <a:cxnSpLocks/>
          </p:cNvCxnSpPr>
          <p:nvPr/>
        </p:nvCxnSpPr>
        <p:spPr>
          <a:xfrm>
            <a:off x="4544479" y="4323342"/>
            <a:ext cx="1685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536AC05E-A25C-30D7-3058-C27692DFD8CE}"/>
              </a:ext>
            </a:extLst>
          </p:cNvPr>
          <p:cNvSpPr txBox="1"/>
          <p:nvPr/>
        </p:nvSpPr>
        <p:spPr>
          <a:xfrm>
            <a:off x="4635937" y="3841052"/>
            <a:ext cx="1593568" cy="369332"/>
          </a:xfrm>
          <a:prstGeom prst="rect">
            <a:avLst/>
          </a:prstGeom>
          <a:noFill/>
        </p:spPr>
        <p:txBody>
          <a:bodyPr wrap="square" rtlCol="0">
            <a:spAutoFit/>
          </a:bodyPr>
          <a:lstStyle/>
          <a:p>
            <a:pPr algn="ctr"/>
            <a:r>
              <a:rPr kumimoji="1" lang="en-US" altLang="ja-JP" dirty="0"/>
              <a:t>Gemini API</a:t>
            </a:r>
            <a:endParaRPr kumimoji="1" lang="ja-JP" altLang="en-US" dirty="0"/>
          </a:p>
        </p:txBody>
      </p:sp>
      <p:cxnSp>
        <p:nvCxnSpPr>
          <p:cNvPr id="20" name="直線コネクタ 19">
            <a:extLst>
              <a:ext uri="{FF2B5EF4-FFF2-40B4-BE49-F238E27FC236}">
                <a16:creationId xmlns:a16="http://schemas.microsoft.com/office/drawing/2014/main" id="{630C96CB-55FC-4032-F253-7F18202609A0}"/>
              </a:ext>
            </a:extLst>
          </p:cNvPr>
          <p:cNvCxnSpPr/>
          <p:nvPr/>
        </p:nvCxnSpPr>
        <p:spPr>
          <a:xfrm>
            <a:off x="2708694" y="4873392"/>
            <a:ext cx="0" cy="44623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248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E7E33-B1BF-5AE8-CFFF-3B8AE0E5411E}"/>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96E08861-08E2-6A45-ABFF-0BB6E94C0A0E}"/>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5" name="テキスト ボックス 4">
            <a:extLst>
              <a:ext uri="{FF2B5EF4-FFF2-40B4-BE49-F238E27FC236}">
                <a16:creationId xmlns:a16="http://schemas.microsoft.com/office/drawing/2014/main" id="{74260902-A35D-DFC6-A394-03A2BF3160B1}"/>
              </a:ext>
            </a:extLst>
          </p:cNvPr>
          <p:cNvSpPr txBox="1"/>
          <p:nvPr/>
        </p:nvSpPr>
        <p:spPr>
          <a:xfrm>
            <a:off x="86263" y="2456795"/>
            <a:ext cx="11852696" cy="4401205"/>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a:t>
            </a:r>
          </a:p>
          <a:p>
            <a:pPr fontAlgn="base" latinLnBrk="1"/>
            <a:r>
              <a:rPr lang="ja-JP" altLang="ja-JP" sz="1400" dirty="0">
                <a:solidFill>
                  <a:schemeClr val="bg1"/>
                </a:solidFill>
              </a:rPr>
              <a:t>Final Response</a:t>
            </a:r>
          </a:p>
          <a:p>
            <a:pPr fontAlgn="base" latinLnBrk="1"/>
            <a:r>
              <a:rPr lang="ja-JP" altLang="ja-JP" sz="1400" dirty="0">
                <a:solidFill>
                  <a:schemeClr val="bg1"/>
                </a:solidFill>
              </a:rPr>
              <a:t>==============================</a:t>
            </a:r>
          </a:p>
          <a:p>
            <a:pPr fontAlgn="base" latinLnBrk="1"/>
            <a:r>
              <a:rPr lang="ja-JP" altLang="ja-JP" sz="1400" dirty="0">
                <a:solidFill>
                  <a:schemeClr val="bg1"/>
                </a:solidFill>
              </a:rPr>
              <a:t>Based on the information provided, here's an analysis of the network issues:</a:t>
            </a:r>
          </a:p>
          <a:p>
            <a:pPr fontAlgn="base" latinLnBrk="1"/>
            <a:endParaRPr lang="ja-JP" altLang="ja-JP" sz="1400" dirty="0">
              <a:solidFill>
                <a:schemeClr val="bg1"/>
              </a:solidFill>
            </a:endParaRPr>
          </a:p>
          <a:p>
            <a:pPr fontAlgn="base" latinLnBrk="1"/>
            <a:r>
              <a:rPr lang="ja-JP" altLang="ja-JP" sz="1400" dirty="0">
                <a:solidFill>
                  <a:schemeClr val="bg1"/>
                </a:solidFill>
              </a:rPr>
              <a:t>**Overall Network Status**</a:t>
            </a:r>
          </a:p>
          <a:p>
            <a:pPr fontAlgn="base" latinLnBrk="1"/>
            <a:r>
              <a:rPr lang="ja-JP" altLang="ja-JP" sz="1400" dirty="0">
                <a:solidFill>
                  <a:schemeClr val="bg1"/>
                </a:solidFill>
              </a:rPr>
              <a:t>The "I cannot use network" report is consistent with multiple critical issues detected across your Cisco network devices, specifically `test2` (10.0.0.2) being completely unreachable and `test1` (172.16.1.254) experiencing significant routing protocol failures.</a:t>
            </a:r>
          </a:p>
          <a:p>
            <a:pPr fontAlgn="base" latinLnBrk="1"/>
            <a:r>
              <a:rPr lang="ja-JP" altLang="ja-JP" sz="1400" dirty="0">
                <a:solidFill>
                  <a:schemeClr val="bg1"/>
                </a:solidFill>
              </a:rPr>
              <a:t>---</a:t>
            </a:r>
          </a:p>
          <a:p>
            <a:pPr fontAlgn="base" latinLnBrk="1"/>
            <a:r>
              <a:rPr lang="ja-JP" altLang="ja-JP" sz="1400" dirty="0">
                <a:solidFill>
                  <a:schemeClr val="bg1"/>
                </a:solidFill>
              </a:rPr>
              <a:t>**Problems Detected by Zabbix**</a:t>
            </a:r>
          </a:p>
          <a:p>
            <a:pPr fontAlgn="base" latinLnBrk="1"/>
            <a:endParaRPr lang="ja-JP" altLang="ja-JP" sz="1400" dirty="0">
              <a:solidFill>
                <a:schemeClr val="bg1"/>
              </a:solidFill>
            </a:endParaRPr>
          </a:p>
          <a:p>
            <a:pPr fontAlgn="base" latinLnBrk="1"/>
            <a:r>
              <a:rPr lang="ja-JP" altLang="ja-JP" sz="1400" dirty="0">
                <a:solidFill>
                  <a:schemeClr val="bg1"/>
                </a:solidFill>
              </a:rPr>
              <a:t>*   **`test2` (Hostname: `test2`, IP: `10.0.0.2`)**:</a:t>
            </a:r>
          </a:p>
          <a:p>
            <a:pPr fontAlgn="base" latinLnBrk="1"/>
            <a:r>
              <a:rPr lang="ja-JP" altLang="ja-JP" sz="1400" dirty="0">
                <a:solidFill>
                  <a:schemeClr val="bg1"/>
                </a:solidFill>
              </a:rPr>
              <a:t>    *   **"Cisco IOS: Unavailable by ICMP ping"** (Severity: Warning)</a:t>
            </a:r>
          </a:p>
          <a:p>
            <a:pPr fontAlgn="base" latinLnBrk="1"/>
            <a:r>
              <a:rPr lang="ja-JP" altLang="ja-JP" sz="1400" dirty="0">
                <a:solidFill>
                  <a:schemeClr val="bg1"/>
                </a:solidFill>
              </a:rPr>
              <a:t>    *   This indicates that `test2` is not responding to ICMP pings, meaning it is currently unreachable at the network layer.</a:t>
            </a:r>
          </a:p>
          <a:p>
            <a:pPr fontAlgn="base" latinLnBrk="1"/>
            <a:r>
              <a:rPr lang="ja-JP" altLang="ja-JP" sz="1400" dirty="0">
                <a:solidFill>
                  <a:schemeClr val="bg1"/>
                </a:solidFill>
              </a:rPr>
              <a:t>*   **`test1` (Hostname: `test1`, IP: `172.16.1.254`)**:</a:t>
            </a:r>
          </a:p>
          <a:p>
            <a:pPr fontAlgn="base" latinLnBrk="1"/>
            <a:r>
              <a:rPr lang="ja-JP" altLang="ja-JP" sz="1400" dirty="0">
                <a:solidFill>
                  <a:schemeClr val="bg1"/>
                </a:solidFill>
              </a:rPr>
              <a:t>    *   **"BGP change (trap)"** (Severity: Average)</a:t>
            </a:r>
          </a:p>
          <a:p>
            <a:pPr fontAlgn="base" latinLnBrk="1"/>
            <a:r>
              <a:rPr lang="ja-JP" altLang="ja-JP" sz="1400" dirty="0">
                <a:solidFill>
                  <a:schemeClr val="bg1"/>
                </a:solidFill>
              </a:rPr>
              <a:t>    *   **"OSPF change (trap)"** (Severity: Average)</a:t>
            </a:r>
          </a:p>
          <a:p>
            <a:pPr fontAlgn="base" latinLnBrk="1"/>
            <a:r>
              <a:rPr lang="ja-JP" altLang="ja-JP" sz="1400" dirty="0">
                <a:solidFill>
                  <a:schemeClr val="bg1"/>
                </a:solidFill>
              </a:rPr>
              <a:t>    *   These alerts indicate recent state changes or issues with the Border Gateway Protocol (BGP) and Open Shortest Path First (OSPF) </a:t>
            </a:r>
            <a:br>
              <a:rPr lang="en-US" altLang="ja-JP" sz="1400" dirty="0">
                <a:solidFill>
                  <a:schemeClr val="bg1"/>
                </a:solidFill>
              </a:rPr>
            </a:br>
            <a:r>
              <a:rPr lang="ja-JP" altLang="ja-JP" sz="1400" dirty="0">
                <a:solidFill>
                  <a:schemeClr val="bg1"/>
                </a:solidFill>
              </a:rPr>
              <a:t>routing protocols on `test1`.</a:t>
            </a:r>
          </a:p>
          <a:p>
            <a:pPr fontAlgn="base" latinLnBrk="1"/>
            <a:r>
              <a:rPr lang="ja-JP" altLang="ja-JP" sz="1400" dirty="0">
                <a:solidFill>
                  <a:schemeClr val="bg1"/>
                </a:solidFill>
              </a:rPr>
              <a:t>---</a:t>
            </a:r>
          </a:p>
        </p:txBody>
      </p:sp>
      <p:sp>
        <p:nvSpPr>
          <p:cNvPr id="2" name="コンテンツ プレースホルダー 2">
            <a:extLst>
              <a:ext uri="{FF2B5EF4-FFF2-40B4-BE49-F238E27FC236}">
                <a16:creationId xmlns:a16="http://schemas.microsoft.com/office/drawing/2014/main" id="{1ACFD4A0-E301-57C8-CF49-ED435062A33E}"/>
              </a:ext>
            </a:extLst>
          </p:cNvPr>
          <p:cNvSpPr>
            <a:spLocks noGrp="1"/>
          </p:cNvSpPr>
          <p:nvPr>
            <p:ph idx="1"/>
          </p:nvPr>
        </p:nvSpPr>
        <p:spPr>
          <a:xfrm>
            <a:off x="388274" y="2173857"/>
            <a:ext cx="7047696" cy="253041"/>
          </a:xfrm>
        </p:spPr>
        <p:txBody>
          <a:bodyPr anchor="t" anchorCtr="0">
            <a:noAutofit/>
          </a:bodyPr>
          <a:lstStyle/>
          <a:p>
            <a:pPr>
              <a:buFont typeface="+mj-lt"/>
              <a:buAutoNum type="arabicPeriod" startAt="7"/>
            </a:pPr>
            <a:r>
              <a:rPr lang="en-US" altLang="ja-JP" dirty="0"/>
              <a:t>An example of answer</a:t>
            </a:r>
          </a:p>
        </p:txBody>
      </p:sp>
    </p:spTree>
    <p:extLst>
      <p:ext uri="{BB962C8B-B14F-4D97-AF65-F5344CB8AC3E}">
        <p14:creationId xmlns:p14="http://schemas.microsoft.com/office/powerpoint/2010/main" val="2525104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6065B-3528-68B5-9962-9AE4DCC93CD7}"/>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F9866194-F41A-4149-DAF5-84814BAA9C25}"/>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5" name="テキスト ボックス 4">
            <a:extLst>
              <a:ext uri="{FF2B5EF4-FFF2-40B4-BE49-F238E27FC236}">
                <a16:creationId xmlns:a16="http://schemas.microsoft.com/office/drawing/2014/main" id="{72A393F4-24A4-7AB8-E281-083DE094F139}"/>
              </a:ext>
            </a:extLst>
          </p:cNvPr>
          <p:cNvSpPr txBox="1"/>
          <p:nvPr/>
        </p:nvSpPr>
        <p:spPr>
          <a:xfrm>
            <a:off x="316301" y="2578186"/>
            <a:ext cx="11703171" cy="2246769"/>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**Current Status of Cisco Devices**</a:t>
            </a:r>
          </a:p>
          <a:p>
            <a:pPr fontAlgn="base" latinLnBrk="1"/>
            <a:endParaRPr lang="ja-JP" altLang="ja-JP" sz="1400" dirty="0">
              <a:solidFill>
                <a:schemeClr val="bg1"/>
              </a:solidFill>
            </a:endParaRPr>
          </a:p>
          <a:p>
            <a:pPr fontAlgn="base" latinLnBrk="1"/>
            <a:r>
              <a:rPr lang="ja-JP" altLang="ja-JP" sz="1400" dirty="0">
                <a:solidFill>
                  <a:schemeClr val="bg1"/>
                </a:solidFill>
              </a:rPr>
              <a:t>**1. Device: `test2` (10.0.0.2)**</a:t>
            </a:r>
          </a:p>
          <a:p>
            <a:pPr fontAlgn="base" latinLnBrk="1"/>
            <a:r>
              <a:rPr lang="ja-JP" altLang="ja-JP" sz="1400" dirty="0">
                <a:solidFill>
                  <a:schemeClr val="bg1"/>
                </a:solidFill>
              </a:rPr>
              <a:t>*   **Status:** This device is currently completely unresponsive from a network perspective.</a:t>
            </a:r>
          </a:p>
          <a:p>
            <a:pPr fontAlgn="base" latinLnBrk="1"/>
            <a:r>
              <a:rPr lang="ja-JP" altLang="ja-JP" sz="1400" dirty="0">
                <a:solidFill>
                  <a:schemeClr val="bg1"/>
                </a:solidFill>
              </a:rPr>
              <a:t>    *   Zabbix reports it is **unavailable by ICMP ping**.</a:t>
            </a:r>
          </a:p>
          <a:p>
            <a:pPr fontAlgn="base" latinLnBrk="1"/>
            <a:r>
              <a:rPr lang="ja-JP" altLang="ja-JP" sz="1400" dirty="0">
                <a:solidFill>
                  <a:schemeClr val="bg1"/>
                </a:solidFill>
              </a:rPr>
              <a:t>    *   Attempts to connect via SSH (TCP port 22) **failed due to a TCP connection error**.</a:t>
            </a:r>
          </a:p>
          <a:p>
            <a:pPr fontAlgn="base" latinLnBrk="1"/>
            <a:r>
              <a:rPr lang="ja-JP" altLang="ja-JP" sz="1400" dirty="0">
                <a:solidFill>
                  <a:schemeClr val="bg1"/>
                </a:solidFill>
              </a:rPr>
              <a:t>*   **Conclusion:** The combination of ICMP unreachability and TCP connection failures strongly suggests that `test2` is either powered off, disconnected from the network, has a critical hardware/software failure, or is being blocked by an intermediate device </a:t>
            </a:r>
            <a:br>
              <a:rPr lang="en-US" altLang="ja-JP" sz="1400" dirty="0">
                <a:solidFill>
                  <a:schemeClr val="bg1"/>
                </a:solidFill>
              </a:rPr>
            </a:br>
            <a:r>
              <a:rPr lang="ja-JP" altLang="ja-JP" sz="1400" dirty="0">
                <a:solidFill>
                  <a:schemeClr val="bg1"/>
                </a:solidFill>
              </a:rPr>
              <a:t>(like a firewall) that is preventing all network access.</a:t>
            </a:r>
          </a:p>
          <a:p>
            <a:pPr fontAlgn="base" latinLnBrk="1"/>
            <a:endParaRPr lang="ja-JP" altLang="ja-JP" sz="1400" dirty="0">
              <a:solidFill>
                <a:schemeClr val="bg1"/>
              </a:solidFill>
            </a:endParaRPr>
          </a:p>
        </p:txBody>
      </p:sp>
      <p:sp>
        <p:nvSpPr>
          <p:cNvPr id="4" name="コンテンツ プレースホルダー 2">
            <a:extLst>
              <a:ext uri="{FF2B5EF4-FFF2-40B4-BE49-F238E27FC236}">
                <a16:creationId xmlns:a16="http://schemas.microsoft.com/office/drawing/2014/main" id="{0B4C9BA7-D555-4308-C291-37AE72781C67}"/>
              </a:ext>
            </a:extLst>
          </p:cNvPr>
          <p:cNvSpPr>
            <a:spLocks noGrp="1"/>
          </p:cNvSpPr>
          <p:nvPr>
            <p:ph idx="1"/>
          </p:nvPr>
        </p:nvSpPr>
        <p:spPr>
          <a:xfrm>
            <a:off x="388274" y="2173857"/>
            <a:ext cx="7047696" cy="253041"/>
          </a:xfrm>
        </p:spPr>
        <p:txBody>
          <a:bodyPr anchor="t" anchorCtr="0">
            <a:noAutofit/>
          </a:bodyPr>
          <a:lstStyle/>
          <a:p>
            <a:pPr>
              <a:buFont typeface="+mj-lt"/>
              <a:buAutoNum type="arabicPeriod" startAt="7"/>
            </a:pPr>
            <a:r>
              <a:rPr lang="en-US" altLang="ja-JP" dirty="0"/>
              <a:t>An example of answer</a:t>
            </a:r>
          </a:p>
          <a:p>
            <a:pPr>
              <a:buFont typeface="+mj-lt"/>
              <a:buAutoNum type="arabicPeriod" startAt="7"/>
            </a:pPr>
            <a:endParaRPr lang="en-US" altLang="ja-JP" dirty="0"/>
          </a:p>
        </p:txBody>
      </p:sp>
    </p:spTree>
    <p:extLst>
      <p:ext uri="{BB962C8B-B14F-4D97-AF65-F5344CB8AC3E}">
        <p14:creationId xmlns:p14="http://schemas.microsoft.com/office/powerpoint/2010/main" val="3876545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9D12A-538E-F083-2DE2-1302851BB993}"/>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09A90BC8-3F01-1A6E-41A1-83A0C2E3742A}"/>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5" name="テキスト ボックス 4">
            <a:extLst>
              <a:ext uri="{FF2B5EF4-FFF2-40B4-BE49-F238E27FC236}">
                <a16:creationId xmlns:a16="http://schemas.microsoft.com/office/drawing/2014/main" id="{5C58D744-7664-A205-36BB-8D8B5FB1D99D}"/>
              </a:ext>
            </a:extLst>
          </p:cNvPr>
          <p:cNvSpPr txBox="1"/>
          <p:nvPr/>
        </p:nvSpPr>
        <p:spPr>
          <a:xfrm>
            <a:off x="316301" y="2532178"/>
            <a:ext cx="11651411" cy="3323987"/>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**2. Device: `test1` (172.16.1.254)**</a:t>
            </a:r>
          </a:p>
          <a:p>
            <a:pPr fontAlgn="base" latinLnBrk="1"/>
            <a:r>
              <a:rPr lang="ja-JP" altLang="ja-JP" sz="1400" dirty="0">
                <a:solidFill>
                  <a:schemeClr val="bg1"/>
                </a:solidFill>
              </a:rPr>
              <a:t>*   **Interface Status:** The device itself appears to be operational and its key interfaces are up:</a:t>
            </a:r>
          </a:p>
          <a:p>
            <a:pPr fontAlgn="base" latinLnBrk="1"/>
            <a:r>
              <a:rPr lang="ja-JP" altLang="ja-JP" sz="1400" dirty="0">
                <a:solidFill>
                  <a:schemeClr val="bg1"/>
                </a:solidFill>
              </a:rPr>
              <a:t>    *   `Ethernet0/0` (172.16.1.254) is `up/up`.</a:t>
            </a:r>
          </a:p>
          <a:p>
            <a:pPr fontAlgn="base" latinLnBrk="1"/>
            <a:r>
              <a:rPr lang="ja-JP" altLang="ja-JP" sz="1400" dirty="0">
                <a:solidFill>
                  <a:schemeClr val="bg1"/>
                </a:solidFill>
              </a:rPr>
              <a:t>    *   `Ethernet0/1` (10.0.0.1) is `up/up`.</a:t>
            </a:r>
          </a:p>
          <a:p>
            <a:pPr fontAlgn="base" latinLnBrk="1"/>
            <a:r>
              <a:rPr lang="ja-JP" altLang="ja-JP" sz="1400" dirty="0">
                <a:solidFill>
                  <a:schemeClr val="bg1"/>
                </a:solidFill>
              </a:rPr>
              <a:t>    *   `Loopback0` (10.0.1.1) is `up/up`.</a:t>
            </a:r>
          </a:p>
          <a:p>
            <a:pPr fontAlgn="base" latinLnBrk="1"/>
            <a:r>
              <a:rPr lang="ja-JP" altLang="ja-JP" sz="1400" dirty="0">
                <a:solidFill>
                  <a:schemeClr val="bg1"/>
                </a:solidFill>
              </a:rPr>
              <a:t>    *   Other interfaces are administratively down, which is not necessarily an issue.</a:t>
            </a:r>
          </a:p>
          <a:p>
            <a:pPr fontAlgn="base" latinLnBrk="1"/>
            <a:r>
              <a:rPr lang="ja-JP" altLang="ja-JP" sz="1400" dirty="0">
                <a:solidFill>
                  <a:schemeClr val="bg1"/>
                </a:solidFill>
              </a:rPr>
              <a:t>*   **OSPF Status:**</a:t>
            </a:r>
          </a:p>
          <a:p>
            <a:pPr fontAlgn="base" latinLnBrk="1"/>
            <a:r>
              <a:rPr lang="ja-JP" altLang="ja-JP" sz="1400" dirty="0">
                <a:solidFill>
                  <a:schemeClr val="bg1"/>
                </a:solidFill>
              </a:rPr>
              <a:t>    *   The command `show ip ospf nei` produced **no output**, indicating that `test1` has no active OSPF neighbors. This directly </a:t>
            </a:r>
            <a:endParaRPr lang="en-US" altLang="ja-JP" sz="1400" dirty="0">
              <a:solidFill>
                <a:schemeClr val="bg1"/>
              </a:solidFill>
            </a:endParaRPr>
          </a:p>
          <a:p>
            <a:pPr fontAlgn="base" latinLnBrk="1"/>
            <a:r>
              <a:rPr lang="ja-JP" altLang="ja-JP" sz="1400" dirty="0">
                <a:solidFill>
                  <a:schemeClr val="bg1"/>
                </a:solidFill>
              </a:rPr>
              <a:t>confirms the "OSPF change" alert from Zabbix, meaning OSPF routing is not functioning on `test1`.</a:t>
            </a:r>
          </a:p>
          <a:p>
            <a:pPr fontAlgn="base" latinLnBrk="1"/>
            <a:r>
              <a:rPr lang="ja-JP" altLang="ja-JP" sz="1400" dirty="0">
                <a:solidFill>
                  <a:schemeClr val="bg1"/>
                </a:solidFill>
              </a:rPr>
              <a:t>*   **BGP Status:**</a:t>
            </a:r>
          </a:p>
          <a:p>
            <a:pPr fontAlgn="base" latinLnBrk="1"/>
            <a:r>
              <a:rPr lang="ja-JP" altLang="ja-JP" sz="1400" dirty="0">
                <a:solidFill>
                  <a:schemeClr val="bg1"/>
                </a:solidFill>
              </a:rPr>
              <a:t>    *   The BGP session with neighbor `10.0.1.2` (in AS 64513) is in an **`Idle` state**.</a:t>
            </a:r>
          </a:p>
          <a:p>
            <a:pPr fontAlgn="base" latinLnBrk="1"/>
            <a:r>
              <a:rPr lang="ja-JP" altLang="ja-JP" sz="1400" dirty="0">
                <a:solidFill>
                  <a:schemeClr val="bg1"/>
                </a:solidFill>
              </a:rPr>
              <a:t>    *   It has been in this state for approximately **28 minutes and 15 seconds**, and has exchanged `0` messages (MsgRcvd, MsgSent). This confirms the "BGP change" alert and indicates the BGP session is not established, and `test1` is not learning routes via BGP.</a:t>
            </a:r>
          </a:p>
          <a:p>
            <a:pPr fontAlgn="base" latinLnBrk="1"/>
            <a:endParaRPr lang="ja-JP" altLang="ja-JP" sz="1400" dirty="0">
              <a:solidFill>
                <a:schemeClr val="bg1"/>
              </a:solidFill>
            </a:endParaRPr>
          </a:p>
          <a:p>
            <a:pPr fontAlgn="base" latinLnBrk="1"/>
            <a:r>
              <a:rPr lang="ja-JP" altLang="ja-JP" sz="1400" dirty="0">
                <a:solidFill>
                  <a:schemeClr val="bg1"/>
                </a:solidFill>
              </a:rPr>
              <a:t>---</a:t>
            </a:r>
          </a:p>
        </p:txBody>
      </p:sp>
      <p:sp>
        <p:nvSpPr>
          <p:cNvPr id="2" name="コンテンツ プレースホルダー 2">
            <a:extLst>
              <a:ext uri="{FF2B5EF4-FFF2-40B4-BE49-F238E27FC236}">
                <a16:creationId xmlns:a16="http://schemas.microsoft.com/office/drawing/2014/main" id="{E2BC6791-8446-025A-647D-D2209CA14BE6}"/>
              </a:ext>
            </a:extLst>
          </p:cNvPr>
          <p:cNvSpPr>
            <a:spLocks noGrp="1"/>
          </p:cNvSpPr>
          <p:nvPr>
            <p:ph idx="1"/>
          </p:nvPr>
        </p:nvSpPr>
        <p:spPr>
          <a:xfrm>
            <a:off x="388274" y="2173857"/>
            <a:ext cx="7047696" cy="253041"/>
          </a:xfrm>
        </p:spPr>
        <p:txBody>
          <a:bodyPr anchor="t" anchorCtr="0">
            <a:noAutofit/>
          </a:bodyPr>
          <a:lstStyle/>
          <a:p>
            <a:pPr>
              <a:buFont typeface="+mj-lt"/>
              <a:buAutoNum type="arabicPeriod" startAt="7"/>
            </a:pPr>
            <a:r>
              <a:rPr lang="en-US" altLang="ja-JP" dirty="0"/>
              <a:t>An example of answer</a:t>
            </a:r>
          </a:p>
          <a:p>
            <a:pPr>
              <a:buFont typeface="+mj-lt"/>
              <a:buAutoNum type="arabicPeriod" startAt="7"/>
            </a:pPr>
            <a:endParaRPr lang="en-US" altLang="ja-JP" dirty="0"/>
          </a:p>
        </p:txBody>
      </p:sp>
    </p:spTree>
    <p:extLst>
      <p:ext uri="{BB962C8B-B14F-4D97-AF65-F5344CB8AC3E}">
        <p14:creationId xmlns:p14="http://schemas.microsoft.com/office/powerpoint/2010/main" val="423624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0A171-FAD1-3163-39E4-4F50C524FF5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BAA67172-C674-8BC1-8460-FC4A06242AC7}"/>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5" name="テキスト ボックス 4">
            <a:extLst>
              <a:ext uri="{FF2B5EF4-FFF2-40B4-BE49-F238E27FC236}">
                <a16:creationId xmlns:a16="http://schemas.microsoft.com/office/drawing/2014/main" id="{A1F1CF34-7E6A-0ACD-A9AD-250B2F876898}"/>
              </a:ext>
            </a:extLst>
          </p:cNvPr>
          <p:cNvSpPr txBox="1"/>
          <p:nvPr/>
        </p:nvSpPr>
        <p:spPr>
          <a:xfrm>
            <a:off x="322053" y="2508555"/>
            <a:ext cx="11450128" cy="3539430"/>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**Possible Causes of the Network Issue**</a:t>
            </a:r>
          </a:p>
          <a:p>
            <a:pPr fontAlgn="base" latinLnBrk="1"/>
            <a:endParaRPr lang="ja-JP" altLang="ja-JP" sz="1400" dirty="0">
              <a:solidFill>
                <a:schemeClr val="bg1"/>
              </a:solidFill>
            </a:endParaRPr>
          </a:p>
          <a:p>
            <a:pPr fontAlgn="base" latinLnBrk="1"/>
            <a:r>
              <a:rPr lang="ja-JP" altLang="ja-JP" sz="1400" dirty="0">
                <a:solidFill>
                  <a:schemeClr val="bg1"/>
                </a:solidFill>
              </a:rPr>
              <a:t>The user's inability to use the network is very likely due to the combined problems on `test1` and `test2`.</a:t>
            </a:r>
          </a:p>
          <a:p>
            <a:pPr fontAlgn="base" latinLnBrk="1"/>
            <a:endParaRPr lang="ja-JP" altLang="ja-JP" sz="1400" dirty="0">
              <a:solidFill>
                <a:schemeClr val="bg1"/>
              </a:solidFill>
            </a:endParaRPr>
          </a:p>
          <a:p>
            <a:pPr fontAlgn="base" latinLnBrk="1"/>
            <a:r>
              <a:rPr lang="ja-JP" altLang="ja-JP" sz="1400" dirty="0">
                <a:solidFill>
                  <a:schemeClr val="bg1"/>
                </a:solidFill>
              </a:rPr>
              <a:t>**Regarding `test2` (10.0.0.2) Unreachability:**</a:t>
            </a:r>
          </a:p>
          <a:p>
            <a:pPr fontAlgn="base" latinLnBrk="1"/>
            <a:r>
              <a:rPr lang="ja-JP" altLang="ja-JP" sz="1400" dirty="0">
                <a:solidFill>
                  <a:schemeClr val="bg1"/>
                </a:solidFill>
              </a:rPr>
              <a:t>**Local Network Issue:** `test1` has an interface `Ethernet0/1` configured with IP `10.0.0.1`. Since `test2` has IP `10.0.0.2`, both </a:t>
            </a:r>
            <a:endParaRPr lang="en-US" altLang="ja-JP" sz="1400" dirty="0">
              <a:solidFill>
                <a:schemeClr val="bg1"/>
              </a:solidFill>
            </a:endParaRPr>
          </a:p>
          <a:p>
            <a:pPr fontAlgn="base" latinLnBrk="1"/>
            <a:r>
              <a:rPr lang="ja-JP" altLang="ja-JP" sz="1400" dirty="0">
                <a:solidFill>
                  <a:schemeClr val="bg1"/>
                </a:solidFill>
              </a:rPr>
              <a:t>devices are in the same `10.0.0.0/24` subnet. This suggests they are either directly connected or connected via a common </a:t>
            </a:r>
            <a:endParaRPr lang="en-US" altLang="ja-JP" sz="1400" dirty="0">
              <a:solidFill>
                <a:schemeClr val="bg1"/>
              </a:solidFill>
            </a:endParaRPr>
          </a:p>
          <a:p>
            <a:pPr fontAlgn="base" latinLnBrk="1"/>
            <a:r>
              <a:rPr lang="ja-JP" altLang="ja-JP" sz="1400" dirty="0">
                <a:solidFill>
                  <a:schemeClr val="bg1"/>
                </a:solidFill>
              </a:rPr>
              <a:t>Layer 2 segment (e.g., a switch).</a:t>
            </a:r>
          </a:p>
          <a:p>
            <a:pPr fontAlgn="base" latinLnBrk="1"/>
            <a:r>
              <a:rPr lang="ja-JP" altLang="ja-JP" sz="1400" dirty="0">
                <a:solidFill>
                  <a:schemeClr val="bg1"/>
                </a:solidFill>
              </a:rPr>
              <a:t>*   **Primary Causes:**</a:t>
            </a:r>
          </a:p>
          <a:p>
            <a:pPr fontAlgn="base" latinLnBrk="1"/>
            <a:r>
              <a:rPr lang="ja-JP" altLang="ja-JP" sz="1400" dirty="0">
                <a:solidFill>
                  <a:schemeClr val="bg1"/>
                </a:solidFill>
              </a:rPr>
              <a:t>    *   **Power Failure:** `test2` might be powered off or lost power.</a:t>
            </a:r>
          </a:p>
          <a:p>
            <a:pPr fontAlgn="base" latinLnBrk="1"/>
            <a:r>
              <a:rPr lang="ja-JP" altLang="ja-JP" sz="1400" dirty="0">
                <a:solidFill>
                  <a:schemeClr val="bg1"/>
                </a:solidFill>
              </a:rPr>
              <a:t>    *   **Physical Disconnection:** The network cable connecting `test2` to the network might be unplugged, faulty, or the port on </a:t>
            </a:r>
            <a:endParaRPr lang="en-US" altLang="ja-JP" sz="1400" dirty="0">
              <a:solidFill>
                <a:schemeClr val="bg1"/>
              </a:solidFill>
            </a:endParaRPr>
          </a:p>
          <a:p>
            <a:pPr fontAlgn="base" latinLnBrk="1"/>
            <a:r>
              <a:rPr lang="ja-JP" altLang="ja-JP" sz="1400" dirty="0">
                <a:solidFill>
                  <a:schemeClr val="bg1"/>
                </a:solidFill>
              </a:rPr>
              <a:t>`test2` or the connecting switch might be down.</a:t>
            </a:r>
          </a:p>
          <a:p>
            <a:pPr fontAlgn="base" latinLnBrk="1"/>
            <a:r>
              <a:rPr lang="ja-JP" altLang="ja-JP" sz="1400" dirty="0">
                <a:solidFill>
                  <a:schemeClr val="bg1"/>
                </a:solidFill>
              </a:rPr>
              <a:t>    *   **Hardware/Software Failure:** `test2` could be experiencing a critical hardware malfunction or an operating system crash.</a:t>
            </a:r>
          </a:p>
          <a:p>
            <a:pPr fontAlgn="base" latinLnBrk="1"/>
            <a:r>
              <a:rPr lang="ja-JP" altLang="ja-JP" sz="1400" dirty="0">
                <a:solidFill>
                  <a:schemeClr val="bg1"/>
                </a:solidFill>
              </a:rPr>
              <a:t>    *   **Firewall Blocking (Less likely for complete unreachability unless new rules applied):** An intermediate firewall could be </a:t>
            </a:r>
            <a:endParaRPr lang="en-US" altLang="ja-JP" sz="1400" dirty="0">
              <a:solidFill>
                <a:schemeClr val="bg1"/>
              </a:solidFill>
            </a:endParaRPr>
          </a:p>
          <a:p>
            <a:pPr fontAlgn="base" latinLnBrk="1"/>
            <a:r>
              <a:rPr lang="ja-JP" altLang="ja-JP" sz="1400" dirty="0">
                <a:solidFill>
                  <a:schemeClr val="bg1"/>
                </a:solidFill>
              </a:rPr>
              <a:t>blocking all traffic to `10.0.0.2`, including ICMP and SSH.</a:t>
            </a:r>
          </a:p>
          <a:p>
            <a:pPr fontAlgn="base" latinLnBrk="1"/>
            <a:endParaRPr lang="ja-JP" altLang="ja-JP" sz="1400" dirty="0">
              <a:solidFill>
                <a:schemeClr val="bg1"/>
              </a:solidFill>
            </a:endParaRPr>
          </a:p>
        </p:txBody>
      </p:sp>
      <p:sp>
        <p:nvSpPr>
          <p:cNvPr id="4" name="コンテンツ プレースホルダー 2">
            <a:extLst>
              <a:ext uri="{FF2B5EF4-FFF2-40B4-BE49-F238E27FC236}">
                <a16:creationId xmlns:a16="http://schemas.microsoft.com/office/drawing/2014/main" id="{EF6B28BD-ACD7-5033-17B6-DB1C7013352A}"/>
              </a:ext>
            </a:extLst>
          </p:cNvPr>
          <p:cNvSpPr>
            <a:spLocks noGrp="1"/>
          </p:cNvSpPr>
          <p:nvPr>
            <p:ph idx="1"/>
          </p:nvPr>
        </p:nvSpPr>
        <p:spPr>
          <a:xfrm>
            <a:off x="388274" y="2173857"/>
            <a:ext cx="7047696" cy="253041"/>
          </a:xfrm>
        </p:spPr>
        <p:txBody>
          <a:bodyPr anchor="t" anchorCtr="0">
            <a:noAutofit/>
          </a:bodyPr>
          <a:lstStyle/>
          <a:p>
            <a:pPr>
              <a:buFont typeface="+mj-lt"/>
              <a:buAutoNum type="arabicPeriod" startAt="7"/>
            </a:pPr>
            <a:r>
              <a:rPr lang="en-US" altLang="ja-JP" dirty="0"/>
              <a:t>An example of answer</a:t>
            </a:r>
          </a:p>
          <a:p>
            <a:pPr>
              <a:buFont typeface="+mj-lt"/>
              <a:buAutoNum type="arabicPeriod" startAt="7"/>
            </a:pPr>
            <a:endParaRPr lang="en-US" altLang="ja-JP" dirty="0"/>
          </a:p>
        </p:txBody>
      </p:sp>
    </p:spTree>
    <p:extLst>
      <p:ext uri="{BB962C8B-B14F-4D97-AF65-F5344CB8AC3E}">
        <p14:creationId xmlns:p14="http://schemas.microsoft.com/office/powerpoint/2010/main" val="3966072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CBADE-24DC-A8FD-C957-984B74BFB149}"/>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D31946B1-646F-AFAD-23E0-6D4CBE4A3AB9}"/>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5" name="テキスト ボックス 4">
            <a:extLst>
              <a:ext uri="{FF2B5EF4-FFF2-40B4-BE49-F238E27FC236}">
                <a16:creationId xmlns:a16="http://schemas.microsoft.com/office/drawing/2014/main" id="{69A69BA2-134F-6EC3-5706-79C083FA4AAF}"/>
              </a:ext>
            </a:extLst>
          </p:cNvPr>
          <p:cNvSpPr txBox="1"/>
          <p:nvPr/>
        </p:nvSpPr>
        <p:spPr>
          <a:xfrm>
            <a:off x="322052" y="2600571"/>
            <a:ext cx="11490385" cy="3323987"/>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**Regarding `test1` (172.16.1.254) Routing Protocol Failures:**</a:t>
            </a:r>
          </a:p>
          <a:p>
            <a:pPr fontAlgn="base" latinLnBrk="1"/>
            <a:r>
              <a:rPr lang="ja-JP" altLang="ja-JP" sz="1400" dirty="0">
                <a:solidFill>
                  <a:schemeClr val="bg1"/>
                </a:solidFill>
              </a:rPr>
              <a:t>*   **OSPF Failure:** The absence of OSPF neighbors means `test1` is not exchanging routes via OSPF. This could be due to:</a:t>
            </a:r>
          </a:p>
          <a:p>
            <a:pPr fontAlgn="base" latinLnBrk="1"/>
            <a:r>
              <a:rPr lang="ja-JP" altLang="ja-JP" sz="1400" dirty="0">
                <a:solidFill>
                  <a:schemeClr val="bg1"/>
                </a:solidFill>
              </a:rPr>
              <a:t>    *   **Neighbor Down/Unreachable:** OSPF neighbors are offline or not reachable.</a:t>
            </a:r>
          </a:p>
          <a:p>
            <a:pPr fontAlgn="base" latinLnBrk="1"/>
            <a:r>
              <a:rPr lang="ja-JP" altLang="ja-JP" sz="1400" dirty="0">
                <a:solidFill>
                  <a:schemeClr val="bg1"/>
                </a:solidFill>
              </a:rPr>
              <a:t>    *   **Interface Issues:** The interface(s) participating in OSPF could be experiencing problems (e.g., errors, duplex mismatches) </a:t>
            </a:r>
            <a:endParaRPr lang="en-US" altLang="ja-JP" sz="1400" dirty="0">
              <a:solidFill>
                <a:schemeClr val="bg1"/>
              </a:solidFill>
            </a:endParaRPr>
          </a:p>
          <a:p>
            <a:pPr fontAlgn="base" latinLnBrk="1"/>
            <a:r>
              <a:rPr lang="ja-JP" altLang="ja-JP" sz="1400" dirty="0">
                <a:solidFill>
                  <a:schemeClr val="bg1"/>
                </a:solidFill>
              </a:rPr>
              <a:t>preventing adjacency formation.</a:t>
            </a:r>
          </a:p>
          <a:p>
            <a:pPr fontAlgn="base" latinLnBrk="1"/>
            <a:r>
              <a:rPr lang="ja-JP" altLang="ja-JP" sz="1400" dirty="0">
                <a:solidFill>
                  <a:schemeClr val="bg1"/>
                </a:solidFill>
              </a:rPr>
              <a:t>    *   **Configuration Mismatch:** Mismatched OSPF areas, authentication, network types, or timer settings with potential neighbors.</a:t>
            </a:r>
          </a:p>
          <a:p>
            <a:pPr fontAlgn="base" latinLnBrk="1"/>
            <a:r>
              <a:rPr lang="ja-JP" altLang="ja-JP" sz="1400" dirty="0">
                <a:solidFill>
                  <a:schemeClr val="bg1"/>
                </a:solidFill>
              </a:rPr>
              <a:t>    *   **ACL Blocking:** An Access Control List (ACL) might be blocking OSPF protocol traffic (multicasts on 224.0.0.5/6).</a:t>
            </a:r>
          </a:p>
          <a:p>
            <a:pPr fontAlgn="base" latinLnBrk="1"/>
            <a:r>
              <a:rPr lang="ja-JP" altLang="ja-JP" sz="1400" dirty="0">
                <a:solidFill>
                  <a:schemeClr val="bg1"/>
                </a:solidFill>
              </a:rPr>
              <a:t>**BGP Failure:** The BGP session with `10.0.1.2` being in `Idle` state indicates that the TCP connection for BGP has not been </a:t>
            </a:r>
            <a:endParaRPr lang="en-US" altLang="ja-JP" sz="1400" dirty="0">
              <a:solidFill>
                <a:schemeClr val="bg1"/>
              </a:solidFill>
            </a:endParaRPr>
          </a:p>
          <a:p>
            <a:pPr fontAlgn="base" latinLnBrk="1"/>
            <a:r>
              <a:rPr lang="ja-JP" altLang="ja-JP" sz="1400" dirty="0">
                <a:solidFill>
                  <a:schemeClr val="bg1"/>
                </a:solidFill>
              </a:rPr>
              <a:t>established. This could be due to:</a:t>
            </a:r>
          </a:p>
          <a:p>
            <a:pPr fontAlgn="base" latinLnBrk="1"/>
            <a:r>
              <a:rPr lang="ja-JP" altLang="ja-JP" sz="1400" dirty="0">
                <a:solidFill>
                  <a:schemeClr val="bg1"/>
                </a:solidFill>
              </a:rPr>
              <a:t>    *   **Unreachability to Neighbor:** `test1` cannot reach the BGP neighbor `10.0.1.2`. `test1`'s BGP router identifier is `10.0.1.1` (its </a:t>
            </a:r>
            <a:endParaRPr lang="en-US" altLang="ja-JP" sz="1400" dirty="0">
              <a:solidFill>
                <a:schemeClr val="bg1"/>
              </a:solidFill>
            </a:endParaRPr>
          </a:p>
          <a:p>
            <a:pPr fontAlgn="base" latinLnBrk="1"/>
            <a:r>
              <a:rPr lang="ja-JP" altLang="ja-JP" sz="1400" dirty="0">
                <a:solidFill>
                  <a:schemeClr val="bg1"/>
                </a:solidFill>
              </a:rPr>
              <a:t>Loopback0 IP).</a:t>
            </a:r>
          </a:p>
          <a:p>
            <a:pPr fontAlgn="base" latinLnBrk="1"/>
            <a:r>
              <a:rPr lang="ja-JP" altLang="ja-JP" sz="1400" dirty="0">
                <a:solidFill>
                  <a:schemeClr val="bg1"/>
                </a:solidFill>
              </a:rPr>
              <a:t>    *   **Neighbor Down/Misconfigured:** The BGP peer `10.0.1.2` might be offline, misconfigured, or not listening for BGP connections.</a:t>
            </a:r>
          </a:p>
          <a:p>
            <a:pPr fontAlgn="base" latinLnBrk="1"/>
            <a:r>
              <a:rPr lang="ja-JP" altLang="ja-JP" sz="1400" dirty="0">
                <a:solidFill>
                  <a:schemeClr val="bg1"/>
                </a:solidFill>
              </a:rPr>
              <a:t>    *   **ACL Blocking:** A firewall or ACL is blocking TCP port 179 for BGP.</a:t>
            </a:r>
          </a:p>
          <a:p>
            <a:pPr fontAlgn="base" latinLnBrk="1"/>
            <a:r>
              <a:rPr lang="ja-JP" altLang="ja-JP" sz="1400" dirty="0">
                <a:solidFill>
                  <a:schemeClr val="bg1"/>
                </a:solidFill>
              </a:rPr>
              <a:t>    *   **Configuration Mismatch:** Incorrect AS number, neighbor IP address, or authentication settings configured on either `test1` </a:t>
            </a:r>
            <a:br>
              <a:rPr lang="en-US" altLang="ja-JP" sz="1400" dirty="0">
                <a:solidFill>
                  <a:schemeClr val="bg1"/>
                </a:solidFill>
              </a:rPr>
            </a:br>
            <a:r>
              <a:rPr lang="ja-JP" altLang="ja-JP" sz="1400" dirty="0">
                <a:solidFill>
                  <a:schemeClr val="bg1"/>
                </a:solidFill>
              </a:rPr>
              <a:t>or the peer.</a:t>
            </a:r>
          </a:p>
        </p:txBody>
      </p:sp>
      <p:sp>
        <p:nvSpPr>
          <p:cNvPr id="2" name="コンテンツ プレースホルダー 2">
            <a:extLst>
              <a:ext uri="{FF2B5EF4-FFF2-40B4-BE49-F238E27FC236}">
                <a16:creationId xmlns:a16="http://schemas.microsoft.com/office/drawing/2014/main" id="{60F44374-35BA-9DF8-CA60-5D2A0063ACB2}"/>
              </a:ext>
            </a:extLst>
          </p:cNvPr>
          <p:cNvSpPr>
            <a:spLocks noGrp="1"/>
          </p:cNvSpPr>
          <p:nvPr>
            <p:ph idx="1"/>
          </p:nvPr>
        </p:nvSpPr>
        <p:spPr>
          <a:xfrm>
            <a:off x="388274" y="2173857"/>
            <a:ext cx="7047696" cy="253041"/>
          </a:xfrm>
        </p:spPr>
        <p:txBody>
          <a:bodyPr anchor="t" anchorCtr="0">
            <a:noAutofit/>
          </a:bodyPr>
          <a:lstStyle/>
          <a:p>
            <a:pPr>
              <a:buFont typeface="+mj-lt"/>
              <a:buAutoNum type="arabicPeriod" startAt="7"/>
            </a:pPr>
            <a:r>
              <a:rPr lang="en-US" altLang="ja-JP" dirty="0"/>
              <a:t>An example of answer</a:t>
            </a:r>
          </a:p>
          <a:p>
            <a:pPr>
              <a:buFont typeface="+mj-lt"/>
              <a:buAutoNum type="arabicPeriod" startAt="7"/>
            </a:pPr>
            <a:endParaRPr lang="en-US" altLang="ja-JP" dirty="0"/>
          </a:p>
        </p:txBody>
      </p:sp>
    </p:spTree>
    <p:extLst>
      <p:ext uri="{BB962C8B-B14F-4D97-AF65-F5344CB8AC3E}">
        <p14:creationId xmlns:p14="http://schemas.microsoft.com/office/powerpoint/2010/main" val="2710763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5BC8C-45E6-EEA3-7902-942B8D91C12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6B260597-3182-3895-0FD3-403FBECC0372}"/>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5" name="テキスト ボックス 4">
            <a:extLst>
              <a:ext uri="{FF2B5EF4-FFF2-40B4-BE49-F238E27FC236}">
                <a16:creationId xmlns:a16="http://schemas.microsoft.com/office/drawing/2014/main" id="{8D759498-2592-E04F-9061-AEAFB549EABB}"/>
              </a:ext>
            </a:extLst>
          </p:cNvPr>
          <p:cNvSpPr txBox="1"/>
          <p:nvPr/>
        </p:nvSpPr>
        <p:spPr>
          <a:xfrm>
            <a:off x="322053" y="2554563"/>
            <a:ext cx="11450128" cy="3970318"/>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**Additional Checks That May Be Useful**</a:t>
            </a:r>
          </a:p>
          <a:p>
            <a:pPr fontAlgn="base" latinLnBrk="1"/>
            <a:endParaRPr lang="ja-JP" altLang="ja-JP" sz="1400" dirty="0">
              <a:solidFill>
                <a:schemeClr val="bg1"/>
              </a:solidFill>
            </a:endParaRPr>
          </a:p>
          <a:p>
            <a:pPr fontAlgn="base" latinLnBrk="1"/>
            <a:r>
              <a:rPr lang="ja-JP" altLang="ja-JP" sz="1400" dirty="0">
                <a:solidFill>
                  <a:schemeClr val="bg1"/>
                </a:solidFill>
              </a:rPr>
              <a:t>**For `test2` (10.0.0.2):**</a:t>
            </a:r>
          </a:p>
          <a:p>
            <a:pPr fontAlgn="base" latinLnBrk="1"/>
            <a:r>
              <a:rPr lang="ja-JP" altLang="ja-JP" sz="1400" dirty="0">
                <a:solidFill>
                  <a:schemeClr val="bg1"/>
                </a:solidFill>
              </a:rPr>
              <a:t>1.  **Physical Inspection:** Physically check `test2` for power status, console access, and network cable connections.</a:t>
            </a:r>
          </a:p>
          <a:p>
            <a:pPr fontAlgn="base" latinLnBrk="1"/>
            <a:r>
              <a:rPr lang="ja-JP" altLang="ja-JP" sz="1400" dirty="0">
                <a:solidFill>
                  <a:schemeClr val="bg1"/>
                </a:solidFill>
              </a:rPr>
              <a:t>2.  **From `test1`:**</a:t>
            </a:r>
          </a:p>
          <a:p>
            <a:pPr fontAlgn="base" latinLnBrk="1"/>
            <a:r>
              <a:rPr lang="ja-JP" altLang="ja-JP" sz="1400" dirty="0">
                <a:solidFill>
                  <a:schemeClr val="bg1"/>
                </a:solidFill>
              </a:rPr>
              <a:t>    *   `ping 10.0.0.2 source Ethernet0/1`: Test reachability from `test1`'s directly connected interface.</a:t>
            </a:r>
          </a:p>
          <a:p>
            <a:pPr fontAlgn="base" latinLnBrk="1"/>
            <a:r>
              <a:rPr lang="ja-JP" altLang="ja-JP" sz="1400" dirty="0">
                <a:solidFill>
                  <a:schemeClr val="bg1"/>
                </a:solidFill>
              </a:rPr>
              <a:t>    *   `show arp 10.0.0.2`: See if `test1` has an ARP entry for `test2`. If not, it suggests `test2` is not responding at Layer 2 or Layer 3.</a:t>
            </a:r>
          </a:p>
          <a:p>
            <a:pPr fontAlgn="base" latinLnBrk="1"/>
            <a:r>
              <a:rPr lang="ja-JP" altLang="ja-JP" sz="1400" dirty="0">
                <a:solidFill>
                  <a:schemeClr val="bg1"/>
                </a:solidFill>
              </a:rPr>
              <a:t>    *   `show interface Ethernet0/1`: Check for any errors (input/output errors, discards) on the interface connected to the `10.0.0.0/24` subnet.</a:t>
            </a:r>
            <a:endParaRPr lang="ja-JP" altLang="en-US" sz="1400" dirty="0">
              <a:solidFill>
                <a:schemeClr val="bg1"/>
              </a:solidFill>
            </a:endParaRPr>
          </a:p>
          <a:p>
            <a:pPr fontAlgn="base" latinLnBrk="1"/>
            <a:endParaRPr lang="ja-JP" altLang="en-US" sz="1400" dirty="0">
              <a:solidFill>
                <a:schemeClr val="bg1"/>
              </a:solidFill>
            </a:endParaRPr>
          </a:p>
          <a:p>
            <a:pPr fontAlgn="base" latinLnBrk="1"/>
            <a:r>
              <a:rPr lang="ja-JP" altLang="ja-JP" sz="1400" dirty="0">
                <a:solidFill>
                  <a:schemeClr val="bg1"/>
                </a:solidFill>
              </a:rPr>
              <a:t>**For `test1` (172.16.1.254):**</a:t>
            </a:r>
          </a:p>
          <a:p>
            <a:pPr fontAlgn="base" latinLnBrk="1"/>
            <a:r>
              <a:rPr lang="ja-JP" altLang="ja-JP" sz="1400" dirty="0">
                <a:solidFill>
                  <a:schemeClr val="bg1"/>
                </a:solidFill>
              </a:rPr>
              <a:t>1.  **OSPF Checks:**</a:t>
            </a:r>
          </a:p>
          <a:p>
            <a:pPr fontAlgn="base" latinLnBrk="1"/>
            <a:r>
              <a:rPr lang="ja-JP" altLang="ja-JP" sz="1400" dirty="0">
                <a:solidFill>
                  <a:schemeClr val="bg1"/>
                </a:solidFill>
              </a:rPr>
              <a:t>    *   `show ip ospf interface brief`: To verify which interfaces are participating in OSPF and their state.</a:t>
            </a:r>
          </a:p>
          <a:p>
            <a:pPr fontAlgn="base" latinLnBrk="1"/>
            <a:r>
              <a:rPr lang="ja-JP" altLang="ja-JP" sz="1400" dirty="0">
                <a:solidFill>
                  <a:schemeClr val="bg1"/>
                </a:solidFill>
              </a:rPr>
              <a:t>    *   `show ip ospf`: To check the OSPF process ID, router ID, and LSA counts.</a:t>
            </a:r>
          </a:p>
          <a:p>
            <a:pPr fontAlgn="base" latinLnBrk="1"/>
            <a:r>
              <a:rPr lang="ja-JP" altLang="ja-JP" sz="1400" dirty="0">
                <a:solidFill>
                  <a:schemeClr val="bg1"/>
                </a:solidFill>
              </a:rPr>
              <a:t>    *   `show running-config | section router ospf`: To review the OSPF configuration for any misconfigurations.</a:t>
            </a:r>
          </a:p>
          <a:p>
            <a:pPr fontAlgn="base" latinLnBrk="1"/>
            <a:r>
              <a:rPr lang="ja-JP" altLang="ja-JP" sz="1400" dirty="0">
                <a:solidFill>
                  <a:schemeClr val="bg1"/>
                </a:solidFill>
              </a:rPr>
              <a:t>    *   `show ip route ospf`: To see if any OSPF learned routes are present (likely none currently).</a:t>
            </a:r>
          </a:p>
          <a:p>
            <a:pPr fontAlgn="base" latinLnBrk="1"/>
            <a:r>
              <a:rPr lang="ja-JP" altLang="ja-JP" sz="1400" dirty="0">
                <a:solidFill>
                  <a:schemeClr val="bg1"/>
                </a:solidFill>
              </a:rPr>
              <a:t>    *   Verify reachability to expected OSPF neighbors.</a:t>
            </a:r>
          </a:p>
          <a:p>
            <a:pPr fontAlgn="base" latinLnBrk="1"/>
            <a:endParaRPr lang="ja-JP" altLang="ja-JP" sz="1400" dirty="0">
              <a:solidFill>
                <a:schemeClr val="bg1"/>
              </a:solidFill>
            </a:endParaRPr>
          </a:p>
        </p:txBody>
      </p:sp>
      <p:sp>
        <p:nvSpPr>
          <p:cNvPr id="2" name="コンテンツ プレースホルダー 2">
            <a:extLst>
              <a:ext uri="{FF2B5EF4-FFF2-40B4-BE49-F238E27FC236}">
                <a16:creationId xmlns:a16="http://schemas.microsoft.com/office/drawing/2014/main" id="{7C9A2FD8-4DCF-3292-6AD7-164E6B4B68F9}"/>
              </a:ext>
            </a:extLst>
          </p:cNvPr>
          <p:cNvSpPr>
            <a:spLocks noGrp="1"/>
          </p:cNvSpPr>
          <p:nvPr>
            <p:ph idx="1"/>
          </p:nvPr>
        </p:nvSpPr>
        <p:spPr>
          <a:xfrm>
            <a:off x="388274" y="2173857"/>
            <a:ext cx="7047696" cy="253041"/>
          </a:xfrm>
        </p:spPr>
        <p:txBody>
          <a:bodyPr anchor="t" anchorCtr="0">
            <a:noAutofit/>
          </a:bodyPr>
          <a:lstStyle/>
          <a:p>
            <a:pPr>
              <a:buFont typeface="+mj-lt"/>
              <a:buAutoNum type="arabicPeriod" startAt="7"/>
            </a:pPr>
            <a:r>
              <a:rPr lang="en-US" altLang="ja-JP" dirty="0"/>
              <a:t>An example of answer</a:t>
            </a:r>
          </a:p>
          <a:p>
            <a:pPr>
              <a:buFont typeface="+mj-lt"/>
              <a:buAutoNum type="arabicPeriod" startAt="7"/>
            </a:pPr>
            <a:endParaRPr lang="en-US" altLang="ja-JP" dirty="0"/>
          </a:p>
        </p:txBody>
      </p:sp>
    </p:spTree>
    <p:extLst>
      <p:ext uri="{BB962C8B-B14F-4D97-AF65-F5344CB8AC3E}">
        <p14:creationId xmlns:p14="http://schemas.microsoft.com/office/powerpoint/2010/main" val="1523496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9163C-125C-9B61-66AF-1CA592D77D5B}"/>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DB268911-F084-B4B0-D811-F8BC46E1FC11}"/>
              </a:ext>
            </a:extLst>
          </p:cNvPr>
          <p:cNvSpPr>
            <a:spLocks noGrp="1"/>
          </p:cNvSpPr>
          <p:nvPr>
            <p:ph type="title"/>
          </p:nvPr>
        </p:nvSpPr>
        <p:spPr>
          <a:xfrm>
            <a:off x="86263" y="447188"/>
            <a:ext cx="12013721" cy="970450"/>
          </a:xfrm>
        </p:spPr>
        <p:txBody>
          <a:bodyPr/>
          <a:lstStyle/>
          <a:p>
            <a:r>
              <a:rPr lang="en-US" altLang="ja-JP" dirty="0"/>
              <a:t>“AI-Agent-for-Network-Operations” </a:t>
            </a:r>
            <a:br>
              <a:rPr lang="en-US" altLang="ja-JP" dirty="0"/>
            </a:br>
            <a:r>
              <a:rPr lang="en-US" altLang="ja-JP" dirty="0"/>
              <a:t>operation example</a:t>
            </a:r>
            <a:endParaRPr lang="ja-JP" altLang="en-US" dirty="0"/>
          </a:p>
        </p:txBody>
      </p:sp>
      <p:sp>
        <p:nvSpPr>
          <p:cNvPr id="5" name="テキスト ボックス 4">
            <a:extLst>
              <a:ext uri="{FF2B5EF4-FFF2-40B4-BE49-F238E27FC236}">
                <a16:creationId xmlns:a16="http://schemas.microsoft.com/office/drawing/2014/main" id="{B50BE48E-547A-B746-F299-815E4EA96BD8}"/>
              </a:ext>
            </a:extLst>
          </p:cNvPr>
          <p:cNvSpPr txBox="1"/>
          <p:nvPr/>
        </p:nvSpPr>
        <p:spPr>
          <a:xfrm>
            <a:off x="322053" y="2554563"/>
            <a:ext cx="11450128" cy="3108543"/>
          </a:xfrm>
          <a:prstGeom prst="rect">
            <a:avLst/>
          </a:prstGeom>
          <a:solidFill>
            <a:schemeClr val="tx1"/>
          </a:solidFill>
          <a:ln>
            <a:solidFill>
              <a:schemeClr val="bg1"/>
            </a:solidFill>
          </a:ln>
        </p:spPr>
        <p:txBody>
          <a:bodyPr wrap="square" rtlCol="0">
            <a:spAutoFit/>
          </a:bodyPr>
          <a:lstStyle/>
          <a:p>
            <a:pPr fontAlgn="base" latinLnBrk="1"/>
            <a:r>
              <a:rPr lang="ja-JP" altLang="ja-JP" sz="1400" dirty="0">
                <a:solidFill>
                  <a:schemeClr val="bg1"/>
                </a:solidFill>
              </a:rPr>
              <a:t>2.  **BGP Checks:**</a:t>
            </a:r>
          </a:p>
          <a:p>
            <a:pPr fontAlgn="base" latinLnBrk="1"/>
            <a:r>
              <a:rPr lang="ja-JP" altLang="ja-JP" sz="1400" dirty="0">
                <a:solidFill>
                  <a:schemeClr val="bg1"/>
                </a:solidFill>
              </a:rPr>
              <a:t>    *   `show ip bgp summary`: (Already provided, but good for quick re-check).</a:t>
            </a:r>
          </a:p>
          <a:p>
            <a:pPr fontAlgn="base" latinLnBrk="1"/>
            <a:r>
              <a:rPr lang="ja-JP" altLang="ja-JP" sz="1400" dirty="0">
                <a:solidFill>
                  <a:schemeClr val="bg1"/>
                </a:solidFill>
              </a:rPr>
              <a:t>    *   `show ip bgp neighbors 10.0.1.2`: To get detailed information about the BGP session state, error messages, and timers.</a:t>
            </a:r>
          </a:p>
          <a:p>
            <a:pPr fontAlgn="base" latinLnBrk="1"/>
            <a:r>
              <a:rPr lang="ja-JP" altLang="ja-JP" sz="1400" dirty="0">
                <a:solidFill>
                  <a:schemeClr val="bg1"/>
                </a:solidFill>
              </a:rPr>
              <a:t>    *   `show running-config | section router bgp`: To review the BGP configuration, checking for correct AS numbers, neighbor IP, </a:t>
            </a:r>
            <a:br>
              <a:rPr lang="en-US" altLang="ja-JP" sz="1400" dirty="0">
                <a:solidFill>
                  <a:schemeClr val="bg1"/>
                </a:solidFill>
              </a:rPr>
            </a:br>
            <a:r>
              <a:rPr lang="ja-JP" altLang="ja-JP" sz="1400" dirty="0">
                <a:solidFill>
                  <a:schemeClr val="bg1"/>
                </a:solidFill>
              </a:rPr>
              <a:t>and authentication settings.</a:t>
            </a:r>
          </a:p>
          <a:p>
            <a:pPr fontAlgn="base" latinLnBrk="1"/>
            <a:r>
              <a:rPr lang="ja-JP" altLang="ja-JP" sz="1400" dirty="0">
                <a:solidFill>
                  <a:schemeClr val="bg1"/>
                </a:solidFill>
              </a:rPr>
              <a:t>    *   `ping 10.0.1.2 source Loopback0`: To verify reachability to the BGP neighbor from the source interface configured for BGP.</a:t>
            </a:r>
          </a:p>
          <a:p>
            <a:pPr fontAlgn="base" latinLnBrk="1"/>
            <a:r>
              <a:rPr lang="ja-JP" altLang="ja-JP" sz="1400" dirty="0">
                <a:solidFill>
                  <a:schemeClr val="bg1"/>
                </a:solidFill>
              </a:rPr>
              <a:t>    *   `show ip route bgp`: To see if any BGP learned routes are present (likely none if in Idle state).</a:t>
            </a:r>
          </a:p>
          <a:p>
            <a:pPr fontAlgn="base" latinLnBrk="1"/>
            <a:r>
              <a:rPr lang="ja-JP" altLang="ja-JP" sz="1400" dirty="0">
                <a:solidFill>
                  <a:schemeClr val="bg1"/>
                </a:solidFill>
              </a:rPr>
              <a:t>3.  **General Checks:**</a:t>
            </a:r>
          </a:p>
          <a:p>
            <a:pPr fontAlgn="base" latinLnBrk="1"/>
            <a:r>
              <a:rPr lang="ja-JP" altLang="ja-JP" sz="1400" dirty="0">
                <a:solidFill>
                  <a:schemeClr val="bg1"/>
                </a:solidFill>
              </a:rPr>
              <a:t>    *   `show logging`: To check for recent error messages or warnings that might provide more context for the routing protocol </a:t>
            </a:r>
            <a:br>
              <a:rPr lang="en-US" altLang="ja-JP" sz="1400" dirty="0">
                <a:solidFill>
                  <a:schemeClr val="bg1"/>
                </a:solidFill>
              </a:rPr>
            </a:br>
            <a:r>
              <a:rPr lang="ja-JP" altLang="ja-JP" sz="1400" dirty="0">
                <a:solidFill>
                  <a:schemeClr val="bg1"/>
                </a:solidFill>
              </a:rPr>
              <a:t>changes.</a:t>
            </a:r>
          </a:p>
          <a:p>
            <a:pPr fontAlgn="base" latinLnBrk="1"/>
            <a:r>
              <a:rPr lang="ja-JP" altLang="ja-JP" sz="1400" dirty="0">
                <a:solidFill>
                  <a:schemeClr val="bg1"/>
                </a:solidFill>
              </a:rPr>
              <a:t>    *   `show interface status` or `show interface &lt;interface-name&gt;`: To check the status and error counters of interfaces connected to potential BGP/OSPF peers.</a:t>
            </a:r>
          </a:p>
          <a:p>
            <a:pPr fontAlgn="base" latinLnBrk="1"/>
            <a:r>
              <a:rPr lang="ja-JP" altLang="ja-JP" sz="1400" dirty="0">
                <a:solidFill>
                  <a:schemeClr val="bg1"/>
                </a:solidFill>
              </a:rPr>
              <a:t>    *   Check for any recently applied ACLs (`show access-lists`) that might be inadvertently blocking routing protocol traffic (e.g., </a:t>
            </a:r>
            <a:br>
              <a:rPr lang="en-US" altLang="ja-JP" sz="1400" dirty="0">
                <a:solidFill>
                  <a:schemeClr val="bg1"/>
                </a:solidFill>
              </a:rPr>
            </a:br>
            <a:r>
              <a:rPr lang="ja-JP" altLang="ja-JP" sz="1400" dirty="0">
                <a:solidFill>
                  <a:schemeClr val="bg1"/>
                </a:solidFill>
              </a:rPr>
              <a:t>OSPF multicasts or BGP TCP port 179).</a:t>
            </a:r>
          </a:p>
        </p:txBody>
      </p:sp>
      <p:sp>
        <p:nvSpPr>
          <p:cNvPr id="2" name="コンテンツ プレースホルダー 2">
            <a:extLst>
              <a:ext uri="{FF2B5EF4-FFF2-40B4-BE49-F238E27FC236}">
                <a16:creationId xmlns:a16="http://schemas.microsoft.com/office/drawing/2014/main" id="{8D99AE29-35FB-7D5B-876A-0ED6CF074461}"/>
              </a:ext>
            </a:extLst>
          </p:cNvPr>
          <p:cNvSpPr>
            <a:spLocks noGrp="1"/>
          </p:cNvSpPr>
          <p:nvPr>
            <p:ph idx="1"/>
          </p:nvPr>
        </p:nvSpPr>
        <p:spPr>
          <a:xfrm>
            <a:off x="388274" y="2173857"/>
            <a:ext cx="7047696" cy="253041"/>
          </a:xfrm>
        </p:spPr>
        <p:txBody>
          <a:bodyPr anchor="t" anchorCtr="0">
            <a:noAutofit/>
          </a:bodyPr>
          <a:lstStyle/>
          <a:p>
            <a:pPr>
              <a:buFont typeface="+mj-lt"/>
              <a:buAutoNum type="arabicPeriod" startAt="7"/>
            </a:pPr>
            <a:r>
              <a:rPr lang="en-US" altLang="ja-JP" dirty="0"/>
              <a:t>An example of answer</a:t>
            </a:r>
          </a:p>
          <a:p>
            <a:pPr>
              <a:buFont typeface="+mj-lt"/>
              <a:buAutoNum type="arabicPeriod" startAt="7"/>
            </a:pPr>
            <a:endParaRPr lang="en-US" altLang="ja-JP" dirty="0"/>
          </a:p>
        </p:txBody>
      </p:sp>
    </p:spTree>
    <p:extLst>
      <p:ext uri="{BB962C8B-B14F-4D97-AF65-F5344CB8AC3E}">
        <p14:creationId xmlns:p14="http://schemas.microsoft.com/office/powerpoint/2010/main" val="31683751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クォータブル">
  <a:themeElements>
    <a:clrScheme name="クォータブル">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クォータブル">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クォータブル">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クォータブル</Template>
  <TotalTime>434</TotalTime>
  <Words>2692</Words>
  <Application>Microsoft Office PowerPoint</Application>
  <PresentationFormat>ワイド画面</PresentationFormat>
  <Paragraphs>209</Paragraphs>
  <Slides>18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18</vt:i4>
      </vt:variant>
    </vt:vector>
  </HeadingPairs>
  <TitlesOfParts>
    <vt:vector size="23" baseType="lpstr">
      <vt:lpstr>游ゴシック</vt:lpstr>
      <vt:lpstr>Century Gothic</vt:lpstr>
      <vt:lpstr>Wingdings</vt:lpstr>
      <vt:lpstr>Wingdings 2</vt:lpstr>
      <vt:lpstr>クォータブル</vt:lpstr>
      <vt:lpstr>PowerPoint プレゼンテーション</vt:lpstr>
      <vt:lpstr>“AI-Agent-for-Network-Operations” overview</vt:lpstr>
      <vt:lpstr>“AI-Agent-for-Network-Operations” flow</vt:lpstr>
      <vt:lpstr>“AI-Agent-for-Network-Operations”  operation example</vt:lpstr>
      <vt:lpstr>PowerPoint プレゼンテーション</vt:lpstr>
      <vt:lpstr>PowerPoint プレゼンテーション</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lpstr>“AI-Agent-for-Network-Operations”  operation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jun miyazaki</dc:creator>
  <cp:lastModifiedBy>jun miyazaki</cp:lastModifiedBy>
  <cp:revision>159</cp:revision>
  <dcterms:created xsi:type="dcterms:W3CDTF">2025-05-31T23:35:29Z</dcterms:created>
  <dcterms:modified xsi:type="dcterms:W3CDTF">2026-10-11T10:35:42Z</dcterms:modified>
</cp:coreProperties>
</file>